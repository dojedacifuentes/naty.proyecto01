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0"/>
    <p:sldId id="257" r:id="rId11"/>
    <p:sldId id="258" r:id="rId12"/>
    <p:sldId id="259" r:id="rId13"/>
    <p:sldId id="260" r:id="rId14"/>
    <p:sldId id="261" r:id="rId15"/>
    <p:sldId id="262" r:id="rId16"/>
    <p:sldId id="263" r:id="rId17"/>
    <p:sldId id="264" r:id="rId18"/>
    <p:sldId id="265" r:id="rId19"/>
    <p:sldId id="266" r:id="rId2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3" name="Notas"/>
          <p:cNvSpPr>
            <a:spLocks noGrp="1"/>
          </p:cNvSpPr>
          <p:nvPr>
            <p:ph type="body" sz="quarter" idx="3"/>
          </p:nvPr>
        </p:nvSpPr>
        <p:spPr>
          <a:xfrm>
            <a:off x="685800" y="4343400"/>
            <a:ext cx="5486400" cy="4114800"/>
          </a:xfrm>
          <a:prstGeom prst="rect">
            <a:avLst/>
          </a:prstGeom>
        </p:spPr>
        <p:txBody>
          <a:bodyPr/>
          <a:lstStyle/>
          <a:p>
            <a:endParaRPr lang="es-CL"/>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Te doy la bienvenida a la cápsula 1 del módulo 2, Fundamentos de n8n y manipulación de datos: ¿Qué conviene automatizar?. "Automatizar con sentido". El caso: Mercado Austral y sus pedidos copiados a mano.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Esta cápsula corresponde al aprendizaje esperado 1 del plan formativo: Distinguir los conceptos fundamentales de automatización de workflows y las características de n8n, de acuerdo con casos de uso empresariales reales. Sus criterios de evaluación son: Identifica aplicaciones donde la automatización de workflows aporta valor en contextos empresariales. Describe la arquitectura y los componentes principales de n8n con precisión técnica. Distingue las ventajas de n8n frente a otras herramientas de automatización.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Qué es un workflow. Una secuencia de pasos que se ejecuta sola cuando ocurre algo: disparador, luego pasos, luego resultado. Ejemplo: llega un pedido, luego se valida, luego se guarda, luego se avisa.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Qué conviene automatizar. Tareas repetitivas, de alto volumen, con reglas claras y datos digitales. Lo que no conviene: decisiones de criterio, tareas que ocurren una vez al año, procesos que todavía no están definidos.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Casos de uso empresariales. Registro de pedidos y formularios; avisos y notificaciones; sincronizar planillas, CRM y bases de datos; reportes periódicos; clasificación de solicitudes; incorporación de clientes.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Beneficios y retorno. Menos digitación y errores, respuesta inmediata, datos disponibles para decidir. Cálculo simple: 40 pedidos al día por 3 minutos es 2 h diarias, aproximadamente 40 h al mes que se liberan. Retorno es valor de las horas liberadas − costo de la herramienta.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Arquitectura de n8n. Workflow (el flujo completo), nodos (cada paso: trigger, acción, lógica, transformación), conexiones, credenciales (acceso seguro a otros servicios), ejecuciones (cada vez que corre, con sus datos). Los datos viajan como ítems en formato JSON.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Componentes de la interfaz. Canvas, panel de nodos, parámetros del nodo, paneles de entrada y salida, historial de ejecuciones.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Ecosistema de nodos. Nodos nativos para cientos de servicios (bases de datos, correo, planillas, mensajería), HTTP Request para cualquier API, Code para lógica propia, nodos de IA (se ven en el módulo 5 del plan) y nodos de la comunidad.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n8n frente a otras plataformas. Ver el cuadro comparativo. Idea central: n8n puede instalarse en infraestructura propia, lo que da control sobre los datos.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Tu tarea. Mapa de Mercado Austral: tres procesos que conviene automatizar y qué gana la empresa con cada uno. Va a tu portafolio (sección 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2400"/>
      </a:lvl1pPr>
    </p:bodyStyle>
    <p:otherStyle>
      <a:lvl1pPr>
        <a:defRPr sz="18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6858000"/>
          </a:xfrm>
          <a:prstGeom prst="rect">
            <a:avLst/>
          </a:prstGeom>
          <a:solidFill>
            <a:srgbClr val="0F3D5E"/>
          </a:solidFill>
          <a:ln>
            <a:noFill/>
          </a:ln>
        </p:spPr>
      </p:sp>
      <p:sp>
        <p:nvSpPr>
          <p:cNvPr id="3" name="Franja 3"/>
          <p:cNvSpPr/>
          <p:nvPr/>
        </p:nvSpPr>
        <p:spPr>
          <a:xfrm>
            <a:off x="609600" y="3276600"/>
            <a:ext cx="1524000" cy="76200"/>
          </a:xfrm>
          <a:prstGeom prst="rect">
            <a:avLst/>
          </a:prstGeom>
          <a:solidFill>
            <a:srgbClr val="F59E0B"/>
          </a:solidFill>
          <a:ln>
            <a:noFill/>
          </a:ln>
        </p:spPr>
      </p:sp>
      <p:sp>
        <p:nvSpPr>
          <p:cNvPr id="7" name="Etiqueta"/>
          <p:cNvSpPr txBox="1"/>
          <p:nvPr/>
        </p:nvSpPr>
        <p:spPr>
          <a:xfrm>
            <a:off x="609600" y="609600"/>
            <a:ext cx="7315200" cy="533400"/>
          </a:xfrm>
          <a:prstGeom prst="rect">
            <a:avLst/>
          </a:prstGeom>
          <a:noFill/>
        </p:spPr>
        <p:txBody>
          <a:bodyPr wrap="square" lIns="0" rIns="0" anchor="b">
            <a:normAutofit/>
          </a:bodyPr>
          <a:lstStyle/>
          <a:p>
            <a:r>
              <a:rPr lang="es-CL" sz="1200" b="1" dirty="0">
                <a:solidFill>
                  <a:srgbClr val="9FC3E6"/>
                </a:solidFill>
              </a:rPr>
              <a:t>MÓDULO 2 · FUNDAMENTOS DE N8N Y MANIPULACIÓN DE DATOS</a:t>
            </a:r>
          </a:p>
        </p:txBody>
      </p:sp>
      <p:sp>
        <p:nvSpPr>
          <p:cNvPr id="4" name="Título"/>
          <p:cNvSpPr txBox="1"/>
          <p:nvPr/>
        </p:nvSpPr>
        <p:spPr>
          <a:xfrm>
            <a:off x="609600" y="1219200"/>
            <a:ext cx="7315200" cy="1981200"/>
          </a:xfrm>
          <a:prstGeom prst="rect">
            <a:avLst/>
          </a:prstGeom>
          <a:noFill/>
        </p:spPr>
        <p:txBody>
          <a:bodyPr wrap="square" lIns="0" rIns="0" anchor="b">
            <a:normAutofit/>
          </a:bodyPr>
          <a:lstStyle/>
          <a:p>
            <a:r>
              <a:rPr lang="es-CL" sz="4000" b="1" dirty="0">
                <a:solidFill>
                  <a:srgbClr val="FFFFFF"/>
                </a:solidFill>
              </a:rPr>
              <a:t>Cápsula 1: ¿Qué conviene automatizar?</a:t>
            </a:r>
          </a:p>
        </p:txBody>
      </p:sp>
      <p:sp>
        <p:nvSpPr>
          <p:cNvPr id="5" name="Subtítulo"/>
          <p:cNvSpPr txBox="1"/>
          <p:nvPr/>
        </p:nvSpPr>
        <p:spPr>
          <a:xfrm>
            <a:off x="609600" y="3505200"/>
            <a:ext cx="7315200" cy="1828800"/>
          </a:xfrm>
          <a:prstGeom prst="rect">
            <a:avLst/>
          </a:prstGeom>
          <a:noFill/>
        </p:spPr>
        <p:txBody>
          <a:bodyPr wrap="square" lIns="0" rIns="0" anchor="t">
            <a:normAutofit/>
          </a:bodyPr>
          <a:lstStyle/>
          <a:p>
            <a:r>
              <a:rPr lang="es-CL" sz="2200" dirty="0">
                <a:solidFill>
                  <a:srgbClr val="E5E7EB"/>
                </a:solidFill>
              </a:rPr>
              <a:t>"Automatizar con sentido". El caso: Mercado Austral y sus pedidos copiados a mano.</a:t>
            </a:r>
          </a:p>
          <a:p>
            <a:r>
              <a:rPr lang="es-CL" sz="2200" dirty="0">
                <a:solidFill>
                  <a:srgbClr val="E5E7EB"/>
                </a:solidFill>
              </a:rPr>
              <a:t>Contenido del plan: 1. CONCEPTOS FUNDAMENTALES DE AUTOMATIZACIÓN DE WORKFLOWS Y LAS CARACTERÍSTICAS DE N8N</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CBD5E1"/>
                </a:solidFill>
              </a:rPr>
              <a:t>PF1821 · Módulo 2 · Cápsula 1 · Aprendizaje esperado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APRENDIZAJE Y CRITERIOS TEXTUALES DEL PLAN FORMATIVO</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Aprendizaje esperado 1</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1600" b="1" dirty="0">
                <a:solidFill>
                  <a:srgbClr val="1F2937"/>
                </a:solidFill>
              </a:rPr>
              <a:t>DISTINGUIR LOS CONCEPTOS FUNDAMENTALES DE AUTOMATIZACIÓN DE WORKFLOWS Y LAS CARACTERÍSTICAS DE N8N, DE ACUERDO CON CASOS DE USO EMPRESARIALES REALES.</a:t>
            </a:r>
          </a:p>
          <a:p>
            <a:pPr marL="0" indent="0">
              <a:spcBef>
                <a:spcPts val="1400"/>
              </a:spcBef>
              <a:buNone/>
            </a:pPr>
            <a:r>
              <a:rPr lang="es-CL" sz="1400" b="1" dirty="0">
                <a:solidFill>
                  <a:srgbClr val="0E7490"/>
                </a:solidFill>
              </a:rPr>
              <a:t>CRITERIOS DE EVALUACIÓN</a:t>
            </a:r>
          </a:p>
          <a:p>
            <a:pPr marL="342900" indent="-342900">
              <a:spcBef>
                <a:spcPts val="900"/>
              </a:spcBef>
              <a:buClr>
                <a:srgbClr val="0E7490"/>
              </a:buClr>
              <a:buFont typeface="Arial"/>
              <a:buChar char="•"/>
            </a:pPr>
            <a:r>
              <a:rPr lang="es-CL" sz="1600" dirty="0">
                <a:solidFill>
                  <a:srgbClr val="1F2937"/>
                </a:solidFill>
              </a:rPr>
              <a:t>1.1 IDENTIFICA APLICACIONES DONDE LA AUTOMATIZACIÓN DE WORKFLOWS APORTA VALOR EN CONTEXTOS EMPRESARIALES.</a:t>
            </a:r>
          </a:p>
          <a:p>
            <a:pPr marL="342900" indent="-342900">
              <a:spcBef>
                <a:spcPts val="900"/>
              </a:spcBef>
              <a:buClr>
                <a:srgbClr val="0E7490"/>
              </a:buClr>
              <a:buFont typeface="Arial"/>
              <a:buChar char="•"/>
            </a:pPr>
            <a:r>
              <a:rPr lang="es-CL" sz="1600" dirty="0">
                <a:solidFill>
                  <a:srgbClr val="1F2937"/>
                </a:solidFill>
              </a:rPr>
              <a:t>1.2 DESCRIBE LA ARQUITECTURA Y LOS COMPONENTES PRINCIPALES DE N8N CON PRECISIÓN TÉCNICA.</a:t>
            </a:r>
          </a:p>
          <a:p>
            <a:pPr marL="342900" indent="-342900">
              <a:spcBef>
                <a:spcPts val="900"/>
              </a:spcBef>
              <a:buClr>
                <a:srgbClr val="0E7490"/>
              </a:buClr>
              <a:buFont typeface="Arial"/>
              <a:buChar char="•"/>
            </a:pPr>
            <a:r>
              <a:rPr lang="es-CL" sz="1600" dirty="0">
                <a:solidFill>
                  <a:srgbClr val="1F2937"/>
                </a:solidFill>
              </a:rPr>
              <a:t>1.3 DISTINGUE LAS VENTAJAS DE N8N FRENTE A OTRAS HERRAMIENTAS DE AUTOMATIZACIÓN.</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PF1821 · Módulo 2 · Cápsula 1 · Aprendizaje esperado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CONCEPTOS FUNDAMENTALES DE WORKFLOW AUTOMATION.</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Qué es un workflow</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Una secuencia de pasos que se ejecuta sola cuando ocurre algo: </a:t>
            </a:r>
            <a:r>
              <a:rPr lang="es-CL" sz="2400" b="1" dirty="0">
                <a:solidFill>
                  <a:srgbClr val="1F2937"/>
                </a:solidFill>
              </a:rPr>
              <a:t>disparador → pasos → resultado</a:t>
            </a:r>
            <a:r>
              <a:rPr lang="es-CL" sz="2400" dirty="0">
                <a:solidFill>
                  <a:srgbClr val="1F2937"/>
                </a:solidFill>
              </a:rPr>
              <a:t>.</a:t>
            </a:r>
          </a:p>
          <a:p>
            <a:pPr marL="342900" indent="-342900">
              <a:spcBef>
                <a:spcPts val="900"/>
              </a:spcBef>
              <a:buClr>
                <a:srgbClr val="0E7490"/>
              </a:buClr>
              <a:buFont typeface="Arial"/>
              <a:buChar char="•"/>
            </a:pPr>
            <a:r>
              <a:rPr lang="es-CL" sz="2400" dirty="0">
                <a:solidFill>
                  <a:srgbClr val="1F2937"/>
                </a:solidFill>
              </a:rPr>
              <a:t>Ejemplo: llega un pedido → se valida → se guarda → se avisa.</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PF1821 · Módulo 2 · Cápsula 1 · Aprendizaje esperado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CONCEPTOS FUNDAMENTALES DE WORKFLOW AUTOMATION.</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Qué conviene automatizar</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000" dirty="0">
                <a:solidFill>
                  <a:srgbClr val="1F2937"/>
                </a:solidFill>
              </a:rPr>
              <a:t>Tareas </a:t>
            </a:r>
            <a:r>
              <a:rPr lang="es-CL" sz="2000" b="1" dirty="0">
                <a:solidFill>
                  <a:srgbClr val="1F2937"/>
                </a:solidFill>
              </a:rPr>
              <a:t>repetitivas</a:t>
            </a:r>
            <a:r>
              <a:rPr lang="es-CL" sz="2000" dirty="0">
                <a:solidFill>
                  <a:srgbClr val="1F2937"/>
                </a:solidFill>
              </a:rPr>
              <a:t>, de </a:t>
            </a:r>
            <a:r>
              <a:rPr lang="es-CL" sz="2000" b="1" dirty="0">
                <a:solidFill>
                  <a:srgbClr val="1F2937"/>
                </a:solidFill>
              </a:rPr>
              <a:t>alto volumen</a:t>
            </a:r>
            <a:r>
              <a:rPr lang="es-CL" sz="2000" dirty="0">
                <a:solidFill>
                  <a:srgbClr val="1F2937"/>
                </a:solidFill>
              </a:rPr>
              <a:t>, con </a:t>
            </a:r>
            <a:r>
              <a:rPr lang="es-CL" sz="2000" b="1" dirty="0">
                <a:solidFill>
                  <a:srgbClr val="1F2937"/>
                </a:solidFill>
              </a:rPr>
              <a:t>reglas claras</a:t>
            </a:r>
            <a:r>
              <a:rPr lang="es-CL" sz="2000" dirty="0">
                <a:solidFill>
                  <a:srgbClr val="1F2937"/>
                </a:solidFill>
              </a:rPr>
              <a:t> y datos digitales.</a:t>
            </a:r>
          </a:p>
          <a:p>
            <a:pPr marL="342900" indent="-342900">
              <a:spcBef>
                <a:spcPts val="900"/>
              </a:spcBef>
              <a:buClr>
                <a:srgbClr val="0E7490"/>
              </a:buClr>
              <a:buFont typeface="Arial"/>
              <a:buChar char="•"/>
            </a:pPr>
            <a:r>
              <a:rPr lang="es-CL" sz="2000" dirty="0">
                <a:solidFill>
                  <a:srgbClr val="1F2937"/>
                </a:solidFill>
              </a:rPr>
              <a:t>Lo que no conviene: decisiones de criterio, tareas que ocurren una vez al año, procesos que todavía no están definidos.</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PF1821 · Módulo 2 · Cápsula 1 · Aprendizaje esperado 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CASOS DE USO EMPRESARIALES.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Casos de uso empresariales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Registro de pedidos y formularios; avisos y notificaciones; sincronizar planillas, CRM y bases de datos; reportes periódicos; clasificación de solicitudes; incorporación de clientes.</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PF1821 · Módulo 2 · Cápsula 1 · Aprendizaje esperado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BENEFICIOS Y ROI DE LA AUTOMATIZACIÓN.</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Beneficios y retorno</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000" dirty="0">
                <a:solidFill>
                  <a:srgbClr val="1F2937"/>
                </a:solidFill>
              </a:rPr>
              <a:t>Menos digitación y errores, respuesta inmediata, datos disponibles para decidir.</a:t>
            </a:r>
          </a:p>
          <a:p>
            <a:pPr marL="342900" indent="-342900">
              <a:spcBef>
                <a:spcPts val="900"/>
              </a:spcBef>
              <a:buClr>
                <a:srgbClr val="0E7490"/>
              </a:buClr>
              <a:buFont typeface="Arial"/>
              <a:buChar char="•"/>
            </a:pPr>
            <a:r>
              <a:rPr lang="es-CL" sz="2000" dirty="0">
                <a:solidFill>
                  <a:srgbClr val="1F2937"/>
                </a:solidFill>
              </a:rPr>
              <a:t>Cálculo simple: 40 pedidos al día × 3 minutos = 2 h diarias ≈ 40 h al mes que se liberan.</a:t>
            </a:r>
          </a:p>
          <a:p>
            <a:pPr marL="342900" indent="-342900">
              <a:spcBef>
                <a:spcPts val="900"/>
              </a:spcBef>
              <a:buClr>
                <a:srgbClr val="0E7490"/>
              </a:buClr>
              <a:buFont typeface="Arial"/>
              <a:buChar char="•"/>
            </a:pPr>
            <a:r>
              <a:rPr lang="es-CL" sz="2000" dirty="0">
                <a:solidFill>
                  <a:srgbClr val="1F2937"/>
                </a:solidFill>
              </a:rPr>
              <a:t>Retorno = valor de las horas liberadas − costo de la herramienta.</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PF1821 · Módulo 2 · Cápsula 1 · Aprendizaje esperado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ARQUITECTURA DE N8N.</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Arquitectura de n8n</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000" b="1" dirty="0">
                <a:solidFill>
                  <a:srgbClr val="1F2937"/>
                </a:solidFill>
              </a:rPr>
              <a:t>Workflow</a:t>
            </a:r>
            <a:r>
              <a:rPr lang="es-CL" sz="2000" dirty="0">
                <a:solidFill>
                  <a:srgbClr val="1F2937"/>
                </a:solidFill>
              </a:rPr>
              <a:t> (el flujo completo) · </a:t>
            </a:r>
            <a:r>
              <a:rPr lang="es-CL" sz="2000" b="1" dirty="0">
                <a:solidFill>
                  <a:srgbClr val="1F2937"/>
                </a:solidFill>
              </a:rPr>
              <a:t>nodos</a:t>
            </a:r>
            <a:r>
              <a:rPr lang="es-CL" sz="2000" dirty="0">
                <a:solidFill>
                  <a:srgbClr val="1F2937"/>
                </a:solidFill>
              </a:rPr>
              <a:t> (cada paso: trigger, acción, lógica, transformación) · </a:t>
            </a:r>
            <a:r>
              <a:rPr lang="es-CL" sz="2000" b="1" dirty="0">
                <a:solidFill>
                  <a:srgbClr val="1F2937"/>
                </a:solidFill>
              </a:rPr>
              <a:t>conexiones</a:t>
            </a:r>
            <a:r>
              <a:rPr lang="es-CL" sz="2000" dirty="0">
                <a:solidFill>
                  <a:srgbClr val="1F2937"/>
                </a:solidFill>
              </a:rPr>
              <a:t> · </a:t>
            </a:r>
            <a:r>
              <a:rPr lang="es-CL" sz="2000" b="1" dirty="0">
                <a:solidFill>
                  <a:srgbClr val="1F2937"/>
                </a:solidFill>
              </a:rPr>
              <a:t>credenciales</a:t>
            </a:r>
            <a:r>
              <a:rPr lang="es-CL" sz="2000" dirty="0">
                <a:solidFill>
                  <a:srgbClr val="1F2937"/>
                </a:solidFill>
              </a:rPr>
              <a:t> (acceso seguro a otros servicios) · </a:t>
            </a:r>
            <a:r>
              <a:rPr lang="es-CL" sz="2000" b="1" dirty="0">
                <a:solidFill>
                  <a:srgbClr val="1F2937"/>
                </a:solidFill>
              </a:rPr>
              <a:t>ejecuciones</a:t>
            </a:r>
            <a:r>
              <a:rPr lang="es-CL" sz="2000" dirty="0">
                <a:solidFill>
                  <a:srgbClr val="1F2937"/>
                </a:solidFill>
              </a:rPr>
              <a:t> (cada vez que corre, con sus datos).</a:t>
            </a:r>
          </a:p>
          <a:p>
            <a:pPr marL="342900" indent="-342900">
              <a:spcBef>
                <a:spcPts val="900"/>
              </a:spcBef>
              <a:buClr>
                <a:srgbClr val="0E7490"/>
              </a:buClr>
              <a:buFont typeface="Arial"/>
              <a:buChar char="•"/>
            </a:pPr>
            <a:r>
              <a:rPr lang="es-CL" sz="2000" dirty="0">
                <a:solidFill>
                  <a:srgbClr val="1F2937"/>
                </a:solidFill>
              </a:rPr>
              <a:t>Los datos viajan como </a:t>
            </a:r>
            <a:r>
              <a:rPr lang="es-CL" sz="2000" b="1" dirty="0">
                <a:solidFill>
                  <a:srgbClr val="1F2937"/>
                </a:solidFill>
              </a:rPr>
              <a:t>ítems</a:t>
            </a:r>
            <a:r>
              <a:rPr lang="es-CL" sz="2000" dirty="0">
                <a:solidFill>
                  <a:srgbClr val="1F2937"/>
                </a:solidFill>
              </a:rPr>
              <a:t> en formato JSON.</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PF1821 · Módulo 2 · Cápsula 1 · Aprendizaje esperado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COMPONENTES PRINCIPALES.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Componentes de la interfaz</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Canvas · panel de nodos · parámetros del nodo · paneles de entrada y salida · historial de ejecuciones.</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PF1821 · Módulo 2 · Cápsula 1 · Aprendizaje esperado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ECOSISTEMA DE NODOS.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Ecosistema de nodos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000" dirty="0">
                <a:solidFill>
                  <a:srgbClr val="1F2937"/>
                </a:solidFill>
              </a:rPr>
              <a:t>Nodos nativos para cientos de servicios (bases de datos, correo, planillas, mensajería), </a:t>
            </a:r>
            <a:r>
              <a:rPr lang="es-CL" sz="2000" b="1" dirty="0">
                <a:solidFill>
                  <a:srgbClr val="1F2937"/>
                </a:solidFill>
              </a:rPr>
              <a:t>HTTP Request</a:t>
            </a:r>
            <a:r>
              <a:rPr lang="es-CL" sz="2000" dirty="0">
                <a:solidFill>
                  <a:srgbClr val="1F2937"/>
                </a:solidFill>
              </a:rPr>
              <a:t> para cualquier API, </a:t>
            </a:r>
            <a:r>
              <a:rPr lang="es-CL" sz="2000" b="1" dirty="0">
                <a:solidFill>
                  <a:srgbClr val="1F2937"/>
                </a:solidFill>
              </a:rPr>
              <a:t>Code</a:t>
            </a:r>
            <a:r>
              <a:rPr lang="es-CL" sz="2000" dirty="0">
                <a:solidFill>
                  <a:srgbClr val="1F2937"/>
                </a:solidFill>
              </a:rPr>
              <a:t> para lógica propia, nodos de IA (se ven en el módulo 5 del plan) y nodos de la comunidad.</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PF1821 · Módulo 2 · Cápsula 1 · Aprendizaje esperado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DIFERENCIAS CON OTRAS PLATAFORMAS DE AUTOMATIZACIÓN.</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n8n frente a otras plataformas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Ver el cuadro comparativo R04.</a:t>
            </a:r>
          </a:p>
          <a:p>
            <a:pPr marL="342900" indent="-342900">
              <a:spcBef>
                <a:spcPts val="900"/>
              </a:spcBef>
              <a:buClr>
                <a:srgbClr val="0E7490"/>
              </a:buClr>
              <a:buFont typeface="Arial"/>
              <a:buChar char="•"/>
            </a:pPr>
            <a:r>
              <a:rPr lang="es-CL" sz="2400" dirty="0">
                <a:solidFill>
                  <a:srgbClr val="1F2937"/>
                </a:solidFill>
              </a:rPr>
              <a:t>Idea central: n8n puede instalarse en infraestructura propia, lo que da control sobre los datos.</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PF1821 · Módulo 2 · Cápsula 1 · Aprendizaje esperado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PRÁCTICA DEL APRENDIZAJE ESPERADO 1</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Tu tarea</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Mapa de Mercado Austral: tres procesos que conviene automatizar y qué gana la empresa con cada uno.</a:t>
            </a:r>
          </a:p>
          <a:p>
            <a:pPr marL="342900" indent="-342900">
              <a:spcBef>
                <a:spcPts val="900"/>
              </a:spcBef>
              <a:buClr>
                <a:srgbClr val="0E7490"/>
              </a:buClr>
              <a:buFont typeface="Arial"/>
              <a:buChar char="•"/>
            </a:pPr>
            <a:r>
              <a:rPr lang="es-CL" sz="2400" dirty="0">
                <a:solidFill>
                  <a:srgbClr val="1F2937"/>
                </a:solidFill>
              </a:rPr>
              <a:t>Va a tu portafolio (sección 1).</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PF1821 · Módulo 2 · Cápsula 1 · Aprendizaje esperado 1</a:t>
            </a:r>
          </a:p>
        </p:txBody>
      </p:sp>
    </p:spTree>
  </p:cSld>
  <p:clrMapOvr>
    <a:masterClrMapping/>
  </p:clrMapOvr>
</p:sld>
</file>

<file path=ppt/theme/theme1.xml><?xml version="1.0" encoding="utf-8"?>
<a:theme xmlns:a="http://schemas.openxmlformats.org/drawingml/2006/main" name="Modulo 2">
  <a:themeElements>
    <a:clrScheme name="Modulo 2">
      <a:dk1>
        <a:srgbClr val="1F2937"/>
      </a:dk1>
      <a:lt1>
        <a:srgbClr val="FFFFFF"/>
      </a:lt1>
      <a:dk2>
        <a:srgbClr val="0F3D5E"/>
      </a:dk2>
      <a:lt2>
        <a:srgbClr val="F3F4F6"/>
      </a:lt2>
      <a:accent1>
        <a:srgbClr val="0E7490"/>
      </a:accent1>
      <a:accent2>
        <a:srgbClr val="F59E0B"/>
      </a:accent2>
      <a:accent3>
        <a:srgbClr val="10B981"/>
      </a:accent3>
      <a:accent4>
        <a:srgbClr val="6366F1"/>
      </a:accent4>
      <a:accent5>
        <a:srgbClr val="EF4444"/>
      </a:accent5>
      <a:accent6>
        <a:srgbClr val="64748B"/>
      </a:accent6>
      <a:hlink>
        <a:srgbClr val="0563C1"/>
      </a:hlink>
      <a:folHlink>
        <a:srgbClr val="954F72"/>
      </a:folHlink>
    </a:clrScheme>
    <a:fontScheme name="Modulo 2">
      <a:majorFont>
        <a:latin typeface="Calibri"/>
        <a:ea typeface=""/>
        <a:cs typeface=""/>
      </a:majorFont>
      <a:minorFont>
        <a:latin typeface="Calibri"/>
        <a:ea typeface=""/>
        <a:cs typeface=""/>
      </a:minorFont>
    </a:fontScheme>
    <a:fmtScheme name="Modulo 2">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Modulo 2">
  <a:themeElements>
    <a:clrScheme name="Modulo 2">
      <a:dk1>
        <a:srgbClr val="1F2937"/>
      </a:dk1>
      <a:lt1>
        <a:srgbClr val="FFFFFF"/>
      </a:lt1>
      <a:dk2>
        <a:srgbClr val="0F3D5E"/>
      </a:dk2>
      <a:lt2>
        <a:srgbClr val="F3F4F6"/>
      </a:lt2>
      <a:accent1>
        <a:srgbClr val="0E7490"/>
      </a:accent1>
      <a:accent2>
        <a:srgbClr val="F59E0B"/>
      </a:accent2>
      <a:accent3>
        <a:srgbClr val="10B981"/>
      </a:accent3>
      <a:accent4>
        <a:srgbClr val="6366F1"/>
      </a:accent4>
      <a:accent5>
        <a:srgbClr val="EF4444"/>
      </a:accent5>
      <a:accent6>
        <a:srgbClr val="64748B"/>
      </a:accent6>
      <a:hlink>
        <a:srgbClr val="0563C1"/>
      </a:hlink>
      <a:folHlink>
        <a:srgbClr val="954F72"/>
      </a:folHlink>
    </a:clrScheme>
    <a:fontScheme name="Modulo 2">
      <a:majorFont>
        <a:latin typeface="Calibri"/>
        <a:ea typeface=""/>
        <a:cs typeface=""/>
      </a:majorFont>
      <a:minorFont>
        <a:latin typeface="Calibri"/>
        <a:ea typeface=""/>
        <a:cs typeface=""/>
      </a:minorFont>
    </a:fontScheme>
    <a:fmtScheme name="Modulo 2">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licitacion-td-2026</Application>
  <Slides>11</Slides>
  <Notes>11</Notes>
</Properties>
</file>

<file path=docProps/core.xml><?xml version="1.0" encoding="utf-8"?>
<cp:coreProperties xmlns:cp="http://schemas.openxmlformats.org/package/2006/metadata/core-properties" xmlns:dc="http://purl.org/dc/elements/1.1/" xmlns:dcterms="http://purl.org/dc/terms/" xmlns:xsi="http://www.w3.org/2001/XMLSchema-instance">
  <dc:title>PF1821 · Cápsula 1 · ¿Qué conviene automatizar?</dc:title>
  <dc:creator>licitacion-td-2026</dc:creator>
  <dcterms:created xsi:type="dcterms:W3CDTF">2026-10-02T04:00:29Z</dcterms:created>
</cp:coreProperties>
</file>
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 id="265" r:id="rId1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sp>
      <p:sp>
        <p:nvSpPr>
          <p:cNvPr id="3" name="Notas"/>
          <p:cNvSpPr>
            <a:spLocks noGrp="1"/>
          </p:cNvSpPr>
          <p:nvPr>
            <p:ph type="body" sz="quarter" idx="3"/>
          </p:nvPr>
        </p:nvSpPr>
        <p:spPr>
          <a:xfrm>
            <a:off x="685800" y="4343400"/>
            <a:ext cx="5486400" cy="4114800"/>
          </a:xfrm>
          <a:prstGeom prst="rect">
            <a:avLst/>
          </a:prstGeom>
        </p:spPr>
        <p:txBody>
          <a:bodyPr/>
          <a:lstStyle/>
          <a:p>
            <a:endParaRPr lang="es-CL"/>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Te doy la bienvenida a la cápsula 1 del módulo 2: ¿Qué conviene automatizar?. "Automatizar con sentido". El caso: Mercado Austral y sus pedidos copiados a mano.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Qué es un workflow. Una secuencia de pasos que se ejecuta sola cuando ocurre algo: disparador, luego pasos, luego resultado. Ejemplo: llega un pedido, luego se valida, luego se guarda, luego se avisa.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Qué conviene automatizar. Tareas repetitivas, de alto volumen, con reglas claras y datos digitales. Lo que no conviene: decisiones de criterio, tareas que ocurren una vez al año, procesos que todavía no están definidos.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Casos de uso empresariales. Registro de pedidos y formularios; avisos y notificaciones; sincronizar planillas, CRM y bases de datos; reportes periódicos; clasificación de solicitudes; incorporación de clientes.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Beneficios y retorno. Menos digitación y errores, respuesta inmediata, datos disponibles para decidir. Cálculo simple: 40 pedidos al día por 3 minutos es 2 h diarias, aproximadamente 40 h al mes que se liberan. Retorno es valor de las horas liberadas − costo de la herramienta.</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Arquitectura de n8n. Workflow (el flujo completo), nodos (cada paso: trigger, acción, lógica, transformación), conexiones, credenciales (acceso seguro a otros servicios), ejecuciones (cada vez que corre, con sus datos). Los datos viajan como ítems en formato JSON.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Componentes de la interfaz. Canvas, panel de nodos, parámetros del nodo, paneles de entrada y salida, historial de ejecuciones.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Ecosistema de nodos. Nodos nativos para cientos de servicios (bases de datos, correo, planillas, mensajería), HTTP Request para cualquier API, Code para lógica propia, nodos de IA (se ven en el módulo 5 del plan) y nodos de la comunidad.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n8n frente a otras plataformas. Ver el cuadro comparativo. Idea central: n8n puede instalarse en infraestructura propia, lo que da control sobre los datos.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Tu tarea. Mapa de Mercado Austral: tres procesos que conviene automatizar y qué gana la empresa con cada uno. Va a tu portafolio (sección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lvl1pPr>
    </p:titleStyle>
    <p:bodyStyle>
      <a:lvl1pPr>
        <a:defRPr sz="2400"/>
      </a:lvl1pPr>
    </p:bodyStyle>
    <p:otherStyle>
      <a:lvl1pPr>
        <a:defRPr sz="1800"/>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6858000"/>
          </a:xfrm>
          <a:prstGeom prst="rect">
            <a:avLst/>
          </a:prstGeom>
          <a:solidFill>
            <a:srgbClr val="0F3D5E"/>
          </a:solidFill>
          <a:ln>
            <a:noFill/>
          </a:ln>
        </p:spPr>
      </p:sp>
      <p:sp>
        <p:nvSpPr>
          <p:cNvPr id="3" name="Franja 3"/>
          <p:cNvSpPr/>
          <p:nvPr/>
        </p:nvSpPr>
        <p:spPr>
          <a:xfrm>
            <a:off x="609600" y="3276600"/>
            <a:ext cx="1524000" cy="76200"/>
          </a:xfrm>
          <a:prstGeom prst="rect">
            <a:avLst/>
          </a:prstGeom>
          <a:solidFill>
            <a:srgbClr val="F59E0B"/>
          </a:solidFill>
          <a:ln>
            <a:noFill/>
          </a:ln>
        </p:spPr>
      </p:sp>
      <p:sp>
        <p:nvSpPr>
          <p:cNvPr id="4" name="Título"/>
          <p:cNvSpPr txBox="1"/>
          <p:nvPr/>
        </p:nvSpPr>
        <p:spPr>
          <a:xfrm>
            <a:off x="609600" y="1219200"/>
            <a:ext cx="7315200" cy="1981200"/>
          </a:xfrm>
          <a:prstGeom prst="rect">
            <a:avLst/>
          </a:prstGeom>
          <a:noFill/>
        </p:spPr>
        <p:txBody>
          <a:bodyPr wrap="square" lIns="0" rIns="0" anchor="b">
            <a:normAutofit/>
          </a:bodyPr>
          <a:lstStyle/>
          <a:p>
            <a:r>
              <a:rPr lang="es-CL" sz="4000" b="1" dirty="0">
                <a:solidFill>
                  <a:srgbClr val="FFFFFF"/>
                </a:solidFill>
              </a:rPr>
              <a:t>Cápsula 1: ¿Qué conviene automatizar?</a:t>
            </a:r>
          </a:p>
        </p:txBody>
      </p:sp>
      <p:sp>
        <p:nvSpPr>
          <p:cNvPr id="5" name="Subtítulo"/>
          <p:cNvSpPr txBox="1"/>
          <p:nvPr/>
        </p:nvSpPr>
        <p:spPr>
          <a:xfrm>
            <a:off x="609600" y="3505200"/>
            <a:ext cx="7315200" cy="1828800"/>
          </a:xfrm>
          <a:prstGeom prst="rect">
            <a:avLst/>
          </a:prstGeom>
          <a:noFill/>
        </p:spPr>
        <p:txBody>
          <a:bodyPr wrap="square" lIns="0" rIns="0" anchor="t">
            <a:normAutofit/>
          </a:bodyPr>
          <a:lstStyle/>
          <a:p>
            <a:r>
              <a:rPr lang="es-CL" sz="2200" dirty="0">
                <a:solidFill>
                  <a:srgbClr val="E5E7EB"/>
                </a:solidFill>
              </a:rPr>
              <a:t>"Automatizar con sentido". El caso: Mercado Austral y sus pedidos copiados a mano.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CBD5E1"/>
                </a:solidFill>
              </a:rPr>
              <a:t>PF1821 · Módulo 2 · Cápsula 1 · AE1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Qué es un workflow</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Una secuencia de pasos que se ejecuta sola cuando ocurre algo: </a:t>
            </a:r>
            <a:r>
              <a:rPr lang="es-CL" sz="2400" b="1" dirty="0">
                <a:solidFill>
                  <a:srgbClr val="1F2937"/>
                </a:solidFill>
              </a:rPr>
              <a:t>disparador → pasos → resultado</a:t>
            </a:r>
            <a:r>
              <a:rPr lang="es-CL" sz="2400" dirty="0">
                <a:solidFill>
                  <a:srgbClr val="1F2937"/>
                </a:solidFill>
              </a:rPr>
              <a:t>.</a:t>
            </a:r>
          </a:p>
          <a:p>
            <a:pPr marL="342900" indent="-342900">
              <a:spcBef>
                <a:spcPts val="900"/>
              </a:spcBef>
              <a:buClr>
                <a:srgbClr val="0E7490"/>
              </a:buClr>
              <a:buFont typeface="Arial"/>
              <a:buChar char="•"/>
            </a:pPr>
            <a:r>
              <a:rPr lang="es-CL" sz="2400" dirty="0">
                <a:solidFill>
                  <a:srgbClr val="1F2937"/>
                </a:solidFill>
              </a:rPr>
              <a:t>Ejemplo: llega un pedido → se valida → se guarda → se avisa.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Qué conviene automatizar</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Tareas </a:t>
            </a:r>
            <a:r>
              <a:rPr lang="es-CL" sz="2000" b="1" dirty="0">
                <a:solidFill>
                  <a:srgbClr val="1F2937"/>
                </a:solidFill>
              </a:rPr>
              <a:t>repetitivas</a:t>
            </a:r>
            <a:r>
              <a:rPr lang="es-CL" sz="2000" dirty="0">
                <a:solidFill>
                  <a:srgbClr val="1F2937"/>
                </a:solidFill>
              </a:rPr>
              <a:t>, de </a:t>
            </a:r>
            <a:r>
              <a:rPr lang="es-CL" sz="2000" b="1" dirty="0">
                <a:solidFill>
                  <a:srgbClr val="1F2937"/>
                </a:solidFill>
              </a:rPr>
              <a:t>alto volumen</a:t>
            </a:r>
            <a:r>
              <a:rPr lang="es-CL" sz="2000" dirty="0">
                <a:solidFill>
                  <a:srgbClr val="1F2937"/>
                </a:solidFill>
              </a:rPr>
              <a:t>, con </a:t>
            </a:r>
            <a:r>
              <a:rPr lang="es-CL" sz="2000" b="1" dirty="0">
                <a:solidFill>
                  <a:srgbClr val="1F2937"/>
                </a:solidFill>
              </a:rPr>
              <a:t>reglas claras</a:t>
            </a:r>
            <a:r>
              <a:rPr lang="es-CL" sz="2000" dirty="0">
                <a:solidFill>
                  <a:srgbClr val="1F2937"/>
                </a:solidFill>
              </a:rPr>
              <a:t> y datos digitales.</a:t>
            </a:r>
          </a:p>
          <a:p>
            <a:pPr marL="342900" indent="-342900">
              <a:spcBef>
                <a:spcPts val="900"/>
              </a:spcBef>
              <a:buClr>
                <a:srgbClr val="0E7490"/>
              </a:buClr>
              <a:buFont typeface="Arial"/>
              <a:buChar char="•"/>
            </a:pPr>
            <a:r>
              <a:rPr lang="es-CL" sz="2000" dirty="0">
                <a:solidFill>
                  <a:srgbClr val="1F2937"/>
                </a:solidFill>
              </a:rPr>
              <a:t>Lo que no conviene: decisiones de criterio, tareas que ocurren una vez al año, procesos que todavía no están definidos.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Casos de uso empresariales</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Registro de pedidos y formularios; avisos y notificaciones; sincronizar planillas, CRM y bases de datos; reportes periódicos; clasificación de solicitudes; incorporación de clientes.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Beneficios y retorno</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Menos digitación y errores, respuesta inmediata, datos disponibles para decidir.</a:t>
            </a:r>
          </a:p>
          <a:p>
            <a:pPr marL="342900" indent="-342900">
              <a:spcBef>
                <a:spcPts val="900"/>
              </a:spcBef>
              <a:buClr>
                <a:srgbClr val="0E7490"/>
              </a:buClr>
              <a:buFont typeface="Arial"/>
              <a:buChar char="•"/>
            </a:pPr>
            <a:r>
              <a:rPr lang="es-CL" sz="2000" dirty="0">
                <a:solidFill>
                  <a:srgbClr val="1F2937"/>
                </a:solidFill>
              </a:rPr>
              <a:t>Cálculo simple: 40 pedidos al día × 3 minutos = 2 h diarias ≈ 40 h al mes que se liberan.</a:t>
            </a:r>
          </a:p>
          <a:p>
            <a:pPr marL="342900" indent="-342900">
              <a:spcBef>
                <a:spcPts val="900"/>
              </a:spcBef>
              <a:buClr>
                <a:srgbClr val="0E7490"/>
              </a:buClr>
              <a:buFont typeface="Arial"/>
              <a:buChar char="•"/>
            </a:pPr>
            <a:r>
              <a:rPr lang="es-CL" sz="2000" dirty="0">
                <a:solidFill>
                  <a:srgbClr val="1F2937"/>
                </a:solidFill>
              </a:rPr>
              <a:t>Retorno = valor de las horas liberadas − costo de la herramienta.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Arquitectura de n8n</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b="1" dirty="0">
                <a:solidFill>
                  <a:srgbClr val="1F2937"/>
                </a:solidFill>
              </a:rPr>
              <a:t>Workflow</a:t>
            </a:r>
            <a:r>
              <a:rPr lang="es-CL" sz="2000" dirty="0">
                <a:solidFill>
                  <a:srgbClr val="1F2937"/>
                </a:solidFill>
              </a:rPr>
              <a:t> (el flujo completo) · </a:t>
            </a:r>
            <a:r>
              <a:rPr lang="es-CL" sz="2000" b="1" dirty="0">
                <a:solidFill>
                  <a:srgbClr val="1F2937"/>
                </a:solidFill>
              </a:rPr>
              <a:t>nodos</a:t>
            </a:r>
            <a:r>
              <a:rPr lang="es-CL" sz="2000" dirty="0">
                <a:solidFill>
                  <a:srgbClr val="1F2937"/>
                </a:solidFill>
              </a:rPr>
              <a:t> (cada paso: trigger, acción, lógica, transformación) · </a:t>
            </a:r>
            <a:r>
              <a:rPr lang="es-CL" sz="2000" b="1" dirty="0">
                <a:solidFill>
                  <a:srgbClr val="1F2937"/>
                </a:solidFill>
              </a:rPr>
              <a:t>conexiones</a:t>
            </a:r>
            <a:r>
              <a:rPr lang="es-CL" sz="2000" dirty="0">
                <a:solidFill>
                  <a:srgbClr val="1F2937"/>
                </a:solidFill>
              </a:rPr>
              <a:t> · </a:t>
            </a:r>
            <a:r>
              <a:rPr lang="es-CL" sz="2000" b="1" dirty="0">
                <a:solidFill>
                  <a:srgbClr val="1F2937"/>
                </a:solidFill>
              </a:rPr>
              <a:t>credenciales</a:t>
            </a:r>
            <a:r>
              <a:rPr lang="es-CL" sz="2000" dirty="0">
                <a:solidFill>
                  <a:srgbClr val="1F2937"/>
                </a:solidFill>
              </a:rPr>
              <a:t> (acceso seguro a otros servicios) · </a:t>
            </a:r>
            <a:r>
              <a:rPr lang="es-CL" sz="2000" b="1" dirty="0">
                <a:solidFill>
                  <a:srgbClr val="1F2937"/>
                </a:solidFill>
              </a:rPr>
              <a:t>ejecuciones</a:t>
            </a:r>
            <a:r>
              <a:rPr lang="es-CL" sz="2000" dirty="0">
                <a:solidFill>
                  <a:srgbClr val="1F2937"/>
                </a:solidFill>
              </a:rPr>
              <a:t> (cada vez que corre, con sus datos).</a:t>
            </a:r>
          </a:p>
          <a:p>
            <a:pPr marL="342900" indent="-342900">
              <a:spcBef>
                <a:spcPts val="900"/>
              </a:spcBef>
              <a:buClr>
                <a:srgbClr val="0E7490"/>
              </a:buClr>
              <a:buFont typeface="Arial"/>
              <a:buChar char="•"/>
            </a:pPr>
            <a:r>
              <a:rPr lang="es-CL" sz="2000" dirty="0">
                <a:solidFill>
                  <a:srgbClr val="1F2937"/>
                </a:solidFill>
              </a:rPr>
              <a:t>Los datos viajan como </a:t>
            </a:r>
            <a:r>
              <a:rPr lang="es-CL" sz="2000" b="1" dirty="0">
                <a:solidFill>
                  <a:srgbClr val="1F2937"/>
                </a:solidFill>
              </a:rPr>
              <a:t>ítems</a:t>
            </a:r>
            <a:r>
              <a:rPr lang="es-CL" sz="2000" dirty="0">
                <a:solidFill>
                  <a:srgbClr val="1F2937"/>
                </a:solidFill>
              </a:rPr>
              <a:t> en formato JSON.</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Componentes de la interfaz</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Canvas · panel de nodos · parámetros del nodo · paneles de entrada y salida · historial de ejecuciones.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Ecosistema de nodos</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Nodos nativos para cientos de servicios (bases de datos, correo, planillas, mensajería), </a:t>
            </a:r>
            <a:r>
              <a:rPr lang="es-CL" sz="2000" b="1" dirty="0">
                <a:solidFill>
                  <a:srgbClr val="1F2937"/>
                </a:solidFill>
              </a:rPr>
              <a:t>HTTP Request</a:t>
            </a:r>
            <a:r>
              <a:rPr lang="es-CL" sz="2000" dirty="0">
                <a:solidFill>
                  <a:srgbClr val="1F2937"/>
                </a:solidFill>
              </a:rPr>
              <a:t> para cualquier API, </a:t>
            </a:r>
            <a:r>
              <a:rPr lang="es-CL" sz="2000" b="1" dirty="0">
                <a:solidFill>
                  <a:srgbClr val="1F2937"/>
                </a:solidFill>
              </a:rPr>
              <a:t>Code</a:t>
            </a:r>
            <a:r>
              <a:rPr lang="es-CL" sz="2000" dirty="0">
                <a:solidFill>
                  <a:srgbClr val="1F2937"/>
                </a:solidFill>
              </a:rPr>
              <a:t> para lógica propia, nodos de IA (se ven en el módulo 5 del plan) y nodos de la comunidad.</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n8n frente a otras plataformas</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Ver el cuadro comparativo R04.</a:t>
            </a:r>
          </a:p>
          <a:p>
            <a:pPr marL="342900" indent="-342900">
              <a:spcBef>
                <a:spcPts val="900"/>
              </a:spcBef>
              <a:buClr>
                <a:srgbClr val="0E7490"/>
              </a:buClr>
              <a:buFont typeface="Arial"/>
              <a:buChar char="•"/>
            </a:pPr>
            <a:r>
              <a:rPr lang="es-CL" sz="2400" dirty="0">
                <a:solidFill>
                  <a:srgbClr val="1F2937"/>
                </a:solidFill>
              </a:rPr>
              <a:t>Idea central: n8n puede instalarse en infraestructura propia, lo que da control sobre los datos.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Tu tarea</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Mapa de Mercado Austral: tres procesos que conviene automatizar y qué gana la empresa con cada uno.</a:t>
            </a:r>
          </a:p>
          <a:p>
            <a:pPr marL="342900" indent="-342900">
              <a:spcBef>
                <a:spcPts val="900"/>
              </a:spcBef>
              <a:buClr>
                <a:srgbClr val="0E7490"/>
              </a:buClr>
              <a:buFont typeface="Arial"/>
              <a:buChar char="•"/>
            </a:pPr>
            <a:r>
              <a:rPr lang="es-CL" sz="2400" dirty="0">
                <a:solidFill>
                  <a:srgbClr val="1F2937"/>
                </a:solidFill>
              </a:rPr>
              <a:t>Va a tu portafolio (sección 1).</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theme/theme1.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licitacion-td-2026</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PF1821 · Cápsula 1 · ¿Qué conviene automatizar?</dc:title>
  <dc:creator>licitacion-td-2026</dc:creator>
  <dcterms:created xsi:type="dcterms:W3CDTF">2026-09-25T02:10:07Z</dcterms:created>
</cp:coreProperties>
</file>
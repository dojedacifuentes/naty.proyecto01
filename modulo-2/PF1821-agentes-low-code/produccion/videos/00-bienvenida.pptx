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10"/>
    <p:sldId id="257" r:id="rId11"/>
    <p:sldId id="258" r:id="rId12"/>
    <p:sldId id="259" r:id="rId13"/>
    <p:sldId id="260" r:id="rId14"/>
    <p:sldId id="261" r:id="rId15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theme" Target="theme/them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Relationship Id="rId10" Type="http://schemas.openxmlformats.org/officeDocument/2006/relationships/slide" Target="slides/slide1.xml"/><Relationship Id="rId11" Type="http://schemas.openxmlformats.org/officeDocument/2006/relationships/slide" Target="slides/slide2.xml"/><Relationship Id="rId12" Type="http://schemas.openxmlformats.org/officeDocument/2006/relationships/slide" Target="slides/slide3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6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as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/>
          <a:p>
            <a:endParaRPr lang="es-CL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>
      <a:defRPr sz="1200">
        <a:solidFill>
          <a:schemeClr val="tx1"/>
        </a:solidFill>
        <a:latin typeface="+mn-lt"/>
      </a:defRPr>
    </a:lvl1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Hola. Bienvenida, bienvenido al módulo 2: Fundamentos de n8n y manipulación de datos.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Imagina una distribuidora que recibe pedidos por su web y alguien los copia uno por uno a una planilla. Se pierden pedidos, se duplican otros y cada viernes alguien pasa horas sumando ventas. Esa empresa se llama Mercado Austral, es inventada, y va a ser tu cliente durante todo el módulo.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En estas 18 horas vas a reemplazar ese trabajo manual por un workflow en n8n: recibe el pedido, limpia los datos, decide a dónde va y lo guarda en una base de datos. Sin programar, arrastrando nodos.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Vamos en cuatro tramos: entender qué conviene automatizar, construir tu primer workflow, transformar datos, y hacer que tu workflow tome decisiones y se deje depurar. Cada tramo deja una pieza en tu portafolio.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Al final te espera un rescate: un workflow roto con cinco fallas escondidas. Encuéntralas y gana tus insignias.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Tu primer paso: mira la ruta del módulo y completa el autodiagnóstico. Nos vemos en la primera sesión en vivo.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>
        <a:defRPr sz="3200"/>
      </a:lvl1pPr>
    </p:titleStyle>
    <p:bodyStyle>
      <a:lvl1pPr>
        <a:defRPr sz="2400"/>
      </a:lvl1pPr>
    </p:bodyStyle>
    <p:otherStyle>
      <a:lvl1pPr>
        <a:defRPr sz="1800"/>
      </a:lvl1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3D5E"/>
          </a:solidFill>
          <a:ln>
            <a:noFill/>
          </a:ln>
        </p:spPr>
      </p:sp>
      <p:sp>
        <p:nvSpPr>
          <p:cNvPr id="3" name="Franja 3"/>
          <p:cNvSpPr/>
          <p:nvPr/>
        </p:nvSpPr>
        <p:spPr>
          <a:xfrm>
            <a:off x="609600" y="3276600"/>
            <a:ext cx="1524000" cy="762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4" name="Título"/>
          <p:cNvSpPr txBox="1"/>
          <p:nvPr/>
        </p:nvSpPr>
        <p:spPr>
          <a:xfrm>
            <a:off x="609600" y="1219200"/>
            <a:ext cx="7315200" cy="19812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4000" b="1" dirty="0">
                <a:solidFill>
                  <a:srgbClr val="FFFFFF"/>
                </a:solidFill>
              </a:rPr>
              <a:t>Módulo 2: FUNDAMENTOS DE N8N Y MANIPULACIÓN DE DATOS</a:t>
            </a:r>
          </a:p>
        </p:txBody>
      </p:sp>
      <p:sp>
        <p:nvSpPr>
          <p:cNvPr id="5" name="Subtítulo"/>
          <p:cNvSpPr txBox="1"/>
          <p:nvPr/>
        </p:nvSpPr>
        <p:spPr>
          <a:xfrm>
            <a:off x="609600" y="3505200"/>
            <a:ext cx="7315200" cy="18288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2200" dirty="0">
                <a:solidFill>
                  <a:srgbClr val="E5E7EB"/>
                </a:solidFill>
              </a:rPr>
              <a:t>Construcción de Agentes y Automatización con Herramientas Low Code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CBD5E1"/>
                </a:solidFill>
              </a:rPr>
              <a:t>PF1821 · Módulo 2 · Bienvenida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Título"/>
          <p:cNvSpPr txBox="1"/>
          <p:nvPr/>
        </p:nvSpPr>
        <p:spPr>
          <a:xfrm>
            <a:off x="609600" y="381000"/>
            <a:ext cx="7315200" cy="9906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3200" b="1" dirty="0">
                <a:solidFill>
                  <a:srgbClr val="0F3D5E"/>
                </a:solidFill>
              </a:rPr>
              <a:t>Escena 2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4478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1676400"/>
            <a:ext cx="7315200" cy="44196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Imagen sugerida (reemplazar antes de grabar): Planilla llena de filas copiadas a mano; un correo "¿llegó mi pedido?"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PF1821 · Módulo 2 · Bienvenida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Título"/>
          <p:cNvSpPr txBox="1"/>
          <p:nvPr/>
        </p:nvSpPr>
        <p:spPr>
          <a:xfrm>
            <a:off x="609600" y="381000"/>
            <a:ext cx="7315200" cy="9906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3200" b="1" dirty="0">
                <a:solidFill>
                  <a:srgbClr val="0F3D5E"/>
                </a:solidFill>
              </a:rPr>
              <a:t>Escena 3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4478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1676400"/>
            <a:ext cx="7315200" cy="44196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Imagen sugerida (reemplazar antes de grabar): Canvas de n8n: un workflow de 6 nodos que se ejecuta y se pone en verde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PF1821 · Módulo 2 · Bienvenida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Título"/>
          <p:cNvSpPr txBox="1"/>
          <p:nvPr/>
        </p:nvSpPr>
        <p:spPr>
          <a:xfrm>
            <a:off x="609600" y="381000"/>
            <a:ext cx="7315200" cy="9906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3200" b="1" dirty="0">
                <a:solidFill>
                  <a:srgbClr val="0F3D5E"/>
                </a:solidFill>
              </a:rPr>
              <a:t>Escena 4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4478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1676400"/>
            <a:ext cx="7315200" cy="44196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Imagen sugerida (reemplazar antes de grabar): Infografía de la ruta: cuatro tramos con íconos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PF1821 · Módulo 2 · Bienvenida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Título"/>
          <p:cNvSpPr txBox="1"/>
          <p:nvPr/>
        </p:nvSpPr>
        <p:spPr>
          <a:xfrm>
            <a:off x="609600" y="381000"/>
            <a:ext cx="7315200" cy="9906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3200" b="1" dirty="0">
                <a:solidFill>
                  <a:srgbClr val="0F3D5E"/>
                </a:solidFill>
              </a:rPr>
              <a:t>Escena 5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4478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1676400"/>
            <a:ext cx="7315200" cy="44196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Imagen sugerida (reemplazar antes de grabar): Tablero de misiones con insignias "Depurador/a" y "Rescatista de workflows"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PF1821 · Módulo 2 · Bienvenida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Título"/>
          <p:cNvSpPr txBox="1"/>
          <p:nvPr/>
        </p:nvSpPr>
        <p:spPr>
          <a:xfrm>
            <a:off x="609600" y="381000"/>
            <a:ext cx="7315200" cy="9906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3200" b="1" dirty="0">
                <a:solidFill>
                  <a:srgbClr val="0F3D5E"/>
                </a:solidFill>
              </a:rPr>
              <a:t>Escena 6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4478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1676400"/>
            <a:ext cx="7315200" cy="44196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Imagen sugerida (reemplazar antes de grabar): Presentador a cámara; en pantalla el botón "Empezar tramo 1"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PF1821 · Módulo 2 · Bienvenida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odulo 2">
  <a:themeElements>
    <a:clrScheme name="Modulo 2">
      <a:dk1>
        <a:srgbClr val="1F2937"/>
      </a:dk1>
      <a:lt1>
        <a:srgbClr val="FFFFFF"/>
      </a:lt1>
      <a:dk2>
        <a:srgbClr val="0F3D5E"/>
      </a:dk2>
      <a:lt2>
        <a:srgbClr val="F3F4F6"/>
      </a:lt2>
      <a:accent1>
        <a:srgbClr val="0E7490"/>
      </a:accent1>
      <a:accent2>
        <a:srgbClr val="F59E0B"/>
      </a:accent2>
      <a:accent3>
        <a:srgbClr val="10B981"/>
      </a:accent3>
      <a:accent4>
        <a:srgbClr val="6366F1"/>
      </a:accent4>
      <a:accent5>
        <a:srgbClr val="EF4444"/>
      </a:accent5>
      <a:accent6>
        <a:srgbClr val="64748B"/>
      </a:accent6>
      <a:hlink>
        <a:srgbClr val="0563C1"/>
      </a:hlink>
      <a:folHlink>
        <a:srgbClr val="954F72"/>
      </a:folHlink>
    </a:clrScheme>
    <a:fontScheme name="Modulo 2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Modulo 2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9525">
          <a:solidFill>
            <a:schemeClr val="phClr"/>
          </a:solidFill>
        </a:ln>
        <a:ln w="9525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Modulo 2">
  <a:themeElements>
    <a:clrScheme name="Modulo 2">
      <a:dk1>
        <a:srgbClr val="1F2937"/>
      </a:dk1>
      <a:lt1>
        <a:srgbClr val="FFFFFF"/>
      </a:lt1>
      <a:dk2>
        <a:srgbClr val="0F3D5E"/>
      </a:dk2>
      <a:lt2>
        <a:srgbClr val="F3F4F6"/>
      </a:lt2>
      <a:accent1>
        <a:srgbClr val="0E7490"/>
      </a:accent1>
      <a:accent2>
        <a:srgbClr val="F59E0B"/>
      </a:accent2>
      <a:accent3>
        <a:srgbClr val="10B981"/>
      </a:accent3>
      <a:accent4>
        <a:srgbClr val="6366F1"/>
      </a:accent4>
      <a:accent5>
        <a:srgbClr val="EF4444"/>
      </a:accent5>
      <a:accent6>
        <a:srgbClr val="64748B"/>
      </a:accent6>
      <a:hlink>
        <a:srgbClr val="0563C1"/>
      </a:hlink>
      <a:folHlink>
        <a:srgbClr val="954F72"/>
      </a:folHlink>
    </a:clrScheme>
    <a:fontScheme name="Modulo 2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Modulo 2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9525">
          <a:solidFill>
            <a:schemeClr val="phClr"/>
          </a:solidFill>
        </a:ln>
        <a:ln w="9525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licitacion-td-2026</Application>
  <Slides>6</Slides>
  <Notes>6</Not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PF1821 · Video de bienvenida</dc:title>
  <dc:creator>licitacion-td-2026</dc:creator>
  <dcterms:created xsi:type="dcterms:W3CDTF">2026-09-25T02:10:07Z</dcterms:created>
</cp:coreProperties>
</file>
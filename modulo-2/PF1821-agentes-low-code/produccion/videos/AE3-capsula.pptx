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es-C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sz="1200">
        <a:solidFill>
          <a:schemeClr val="tx1"/>
        </a:solidFill>
        <a:latin typeface="+mn-lt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Te doy la bienvenida a la cápsula 3 del módulo 2: Datos en movimiento. "Datos limpios, workflows confiables".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Cómo viajan los datos. Cada ítem es un objeto JSON con campos; un nodo puede recibir muchos ítems y procesa cada uno. Arrays y objetos anidados.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Nodos core de transformación. Edit Fields (Set): crear, cambiar o quitar campos, Filter: dejar pasar solo lo que cumple, Summarize: agrupar y sumar, contar, promediar, Split Out: separar una lista en ítems, Merge: unir dos flujos (por campo o por posición), If / Switch: se ven en el tramo 4.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Expresiones. Entre {{ }}. $json.campo (datos del nodo), $('Nombre del nodo').item.json.campo (datos de otro nodo), $now (fecha y hora), métodos de texto y número: trim(), toLowerCase(), Number(), toFixed(). La vista previa muestra el resultado antes de ejecutar.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Tipos de datos. Texto, número, booleano, fecha. Un número guardado como texto suma mal y la base de datos lo rechaza. Declarar el tipo en Edit Fields.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Formatos. JSON (nativo de n8n), CSV (Extract from File para leerlo, Convert to File para generarlo), XML (nodo XML, de JSON a XML y de vuelta).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Variables y configuración. Valores que no se escriben a mano en cada nodo: credenciales guardadas y variables del entorno de la instancia, cuando el administrador lo habilita.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Supabase en 5 minutos. Base de datos PostgreSQL en la nube: proyecto, luego tabla con columnas y tipos, luego credencial en n8n (URL del proyecto y clave de servicio, que nunca se pega en un nodo ni en una captura).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CRUD con el nodo Supabase. Create a row, Get a row / Get many rows, Update a row, Delete a row. Datos relacionales: una devolución guarda el id de su pedido.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Tu tarea. Actividad 1, parte C: resumen por comuna en XML, y la tabla pedidos con tus filas.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3200"/>
      </a:lvl1pPr>
    </p:titleStyle>
    <p:bodyStyle>
      <a:lvl1pPr>
        <a:defRPr sz="24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3D5E"/>
          </a:solidFill>
          <a:ln>
            <a:noFill/>
          </a:ln>
        </p:spPr>
      </p:sp>
      <p:sp>
        <p:nvSpPr>
          <p:cNvPr id="3" name="Franja 3"/>
          <p:cNvSpPr/>
          <p:nvPr/>
        </p:nvSpPr>
        <p:spPr>
          <a:xfrm>
            <a:off x="609600" y="3276600"/>
            <a:ext cx="1524000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4" name="Título"/>
          <p:cNvSpPr txBox="1"/>
          <p:nvPr/>
        </p:nvSpPr>
        <p:spPr>
          <a:xfrm>
            <a:off x="609600" y="1219200"/>
            <a:ext cx="7315200" cy="19812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4000" b="1" dirty="0">
                <a:solidFill>
                  <a:srgbClr val="FFFFFF"/>
                </a:solidFill>
              </a:rPr>
              <a:t>Cápsula 3: Datos en movimiento</a:t>
            </a:r>
          </a:p>
        </p:txBody>
      </p:sp>
      <p:sp>
        <p:nvSpPr>
          <p:cNvPr id="5" name="Subtítulo"/>
          <p:cNvSpPr txBox="1"/>
          <p:nvPr/>
        </p:nvSpPr>
        <p:spPr>
          <a:xfrm>
            <a:off x="609600" y="3505200"/>
            <a:ext cx="7315200" cy="18288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2200" dirty="0">
                <a:solidFill>
                  <a:srgbClr val="E5E7EB"/>
                </a:solidFill>
              </a:rPr>
              <a:t>"Datos limpios, workflows confiables".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CBD5E1"/>
                </a:solidFill>
              </a:rPr>
              <a:t>PF1821 · Módulo 2 · Cápsula 3 · AE3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Cómo viajan los datos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Cada ítem es un objeto JSON con campos; un nodo puede recibir muchos ítems y procesa cada uno.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Arrays y objetos anidados.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3 · AE3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Nodos core de transformación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000" b="1" dirty="0">
                <a:solidFill>
                  <a:srgbClr val="1F2937"/>
                </a:solidFill>
              </a:rPr>
              <a:t>Edit Fields (Set)</a:t>
            </a:r>
            <a:r>
              <a:rPr lang="es-CL" sz="2000" dirty="0">
                <a:solidFill>
                  <a:srgbClr val="1F2937"/>
                </a:solidFill>
              </a:rPr>
              <a:t>: crear, cambiar o quitar campos · </a:t>
            </a:r>
            <a:r>
              <a:rPr lang="es-CL" sz="2000" b="1" dirty="0">
                <a:solidFill>
                  <a:srgbClr val="1F2937"/>
                </a:solidFill>
              </a:rPr>
              <a:t>Filter</a:t>
            </a:r>
            <a:r>
              <a:rPr lang="es-CL" sz="2000" dirty="0">
                <a:solidFill>
                  <a:srgbClr val="1F2937"/>
                </a:solidFill>
              </a:rPr>
              <a:t>: dejar pasar solo lo que cumple · </a:t>
            </a:r>
            <a:r>
              <a:rPr lang="es-CL" sz="2000" b="1" dirty="0">
                <a:solidFill>
                  <a:srgbClr val="1F2937"/>
                </a:solidFill>
              </a:rPr>
              <a:t>Summarize</a:t>
            </a:r>
            <a:r>
              <a:rPr lang="es-CL" sz="2000" dirty="0">
                <a:solidFill>
                  <a:srgbClr val="1F2937"/>
                </a:solidFill>
              </a:rPr>
              <a:t>: agrupar y sumar, contar, promediar · </a:t>
            </a:r>
            <a:r>
              <a:rPr lang="es-CL" sz="2000" b="1" dirty="0">
                <a:solidFill>
                  <a:srgbClr val="1F2937"/>
                </a:solidFill>
              </a:rPr>
              <a:t>Split Out</a:t>
            </a:r>
            <a:r>
              <a:rPr lang="es-CL" sz="2000" dirty="0">
                <a:solidFill>
                  <a:srgbClr val="1F2937"/>
                </a:solidFill>
              </a:rPr>
              <a:t>: separar una lista en ítems · </a:t>
            </a:r>
            <a:r>
              <a:rPr lang="es-CL" sz="2000" b="1" dirty="0">
                <a:solidFill>
                  <a:srgbClr val="1F2937"/>
                </a:solidFill>
              </a:rPr>
              <a:t>Merge</a:t>
            </a:r>
            <a:r>
              <a:rPr lang="es-CL" sz="2000" dirty="0">
                <a:solidFill>
                  <a:srgbClr val="1F2937"/>
                </a:solidFill>
              </a:rPr>
              <a:t>: unir dos flujos (por campo o por posición) · </a:t>
            </a:r>
            <a:r>
              <a:rPr lang="es-CL" sz="2000" b="1" dirty="0">
                <a:solidFill>
                  <a:srgbClr val="1F2937"/>
                </a:solidFill>
              </a:rPr>
              <a:t>If / Switch</a:t>
            </a:r>
            <a:r>
              <a:rPr lang="es-CL" sz="2000" dirty="0">
                <a:solidFill>
                  <a:srgbClr val="1F2937"/>
                </a:solidFill>
              </a:rPr>
              <a:t>: se ven en el tramo 4.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3 · AE3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Expresiones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000" dirty="0">
                <a:solidFill>
                  <a:srgbClr val="1F2937"/>
                </a:solidFill>
              </a:rPr>
              <a:t>Entre {{ }}.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000" dirty="0">
                <a:solidFill>
                  <a:srgbClr val="1F2937"/>
                </a:solidFill>
              </a:rPr>
              <a:t>$json.campo (datos del nodo) · $('Nombre del nodo').item.json.campo (datos de otro nodo) · $now (fecha y hora) · métodos de texto y número: trim(), toLowerCase(), Number(), toFixed().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000" dirty="0">
                <a:solidFill>
                  <a:srgbClr val="1F2937"/>
                </a:solidFill>
              </a:rPr>
              <a:t>La vista previa muestra el resultado antes de ejecutar.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3 · AE3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Tipos de datos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Texto, número, booleano, fecha.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Un número guardado como texto suma mal y la base de datos lo rechaza.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Declarar el tipo en Edit Fields.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3 · AE3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Formatos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b="1" dirty="0">
                <a:solidFill>
                  <a:srgbClr val="1F2937"/>
                </a:solidFill>
              </a:rPr>
              <a:t>JSON</a:t>
            </a:r>
            <a:r>
              <a:rPr lang="es-CL" sz="2400" dirty="0">
                <a:solidFill>
                  <a:srgbClr val="1F2937"/>
                </a:solidFill>
              </a:rPr>
              <a:t> (nativo de n8n) · </a:t>
            </a:r>
            <a:r>
              <a:rPr lang="es-CL" sz="2400" b="1" dirty="0">
                <a:solidFill>
                  <a:srgbClr val="1F2937"/>
                </a:solidFill>
              </a:rPr>
              <a:t>CSV</a:t>
            </a:r>
            <a:r>
              <a:rPr lang="es-CL" sz="2400" dirty="0">
                <a:solidFill>
                  <a:srgbClr val="1F2937"/>
                </a:solidFill>
              </a:rPr>
              <a:t> (Extract from File para leerlo, Convert to File para generarlo) · </a:t>
            </a:r>
            <a:r>
              <a:rPr lang="es-CL" sz="2400" b="1" dirty="0">
                <a:solidFill>
                  <a:srgbClr val="1F2937"/>
                </a:solidFill>
              </a:rPr>
              <a:t>XML</a:t>
            </a:r>
            <a:r>
              <a:rPr lang="es-CL" sz="2400" dirty="0">
                <a:solidFill>
                  <a:srgbClr val="1F2937"/>
                </a:solidFill>
              </a:rPr>
              <a:t> (nodo XML, de JSON a XML y de vuelta).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3 · AE3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Variables y configuración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Valores que no se escriben a mano en cada nodo: credenciales guardadas y variables del entorno de la instancia, cuando el administrador lo habilita.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3 · AE3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Supabase en 5 minutos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Base de datos PostgreSQL en la nube: proyecto → tabla con columnas y tipos → credencial en n8n (URL del proyecto y clave de servicio, que </a:t>
            </a:r>
            <a:r>
              <a:rPr lang="es-CL" sz="2400" b="1" dirty="0">
                <a:solidFill>
                  <a:srgbClr val="1F2937"/>
                </a:solidFill>
              </a:rPr>
              <a:t>nunca</a:t>
            </a:r>
            <a:r>
              <a:rPr lang="es-CL" sz="2400" dirty="0">
                <a:solidFill>
                  <a:srgbClr val="1F2937"/>
                </a:solidFill>
              </a:rPr>
              <a:t> se pega en un nodo ni en una captura).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3 · AE3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CRUD con el nodo Supabase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Create a row · Get a row / Get many rows · Update a row · Delete a row.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Datos relacionales: una devolución guarda el id de su pedido.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3 · AE3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Tu tarea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Actividad 1, parte C: resumen por comuna en XML, y la tabla pedidos con tus filas.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3 · AE3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dulo 2">
  <a:themeElements>
    <a:clrScheme name="Modulo 2">
      <a:dk1>
        <a:srgbClr val="1F2937"/>
      </a:dk1>
      <a:lt1>
        <a:srgbClr val="FFFFFF"/>
      </a:lt1>
      <a:dk2>
        <a:srgbClr val="0F3D5E"/>
      </a:dk2>
      <a:lt2>
        <a:srgbClr val="F3F4F6"/>
      </a:lt2>
      <a:accent1>
        <a:srgbClr val="0E7490"/>
      </a:accent1>
      <a:accent2>
        <a:srgbClr val="F59E0B"/>
      </a:accent2>
      <a:accent3>
        <a:srgbClr val="10B981"/>
      </a:accent3>
      <a:accent4>
        <a:srgbClr val="6366F1"/>
      </a:accent4>
      <a:accent5>
        <a:srgbClr val="EF4444"/>
      </a:accent5>
      <a:accent6>
        <a:srgbClr val="64748B"/>
      </a:accent6>
      <a:hlink>
        <a:srgbClr val="0563C1"/>
      </a:hlink>
      <a:folHlink>
        <a:srgbClr val="954F72"/>
      </a:folHlink>
    </a:clrScheme>
    <a:fontScheme name="Modulo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odulo 2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Modulo 2">
  <a:themeElements>
    <a:clrScheme name="Modulo 2">
      <a:dk1>
        <a:srgbClr val="1F2937"/>
      </a:dk1>
      <a:lt1>
        <a:srgbClr val="FFFFFF"/>
      </a:lt1>
      <a:dk2>
        <a:srgbClr val="0F3D5E"/>
      </a:dk2>
      <a:lt2>
        <a:srgbClr val="F3F4F6"/>
      </a:lt2>
      <a:accent1>
        <a:srgbClr val="0E7490"/>
      </a:accent1>
      <a:accent2>
        <a:srgbClr val="F59E0B"/>
      </a:accent2>
      <a:accent3>
        <a:srgbClr val="10B981"/>
      </a:accent3>
      <a:accent4>
        <a:srgbClr val="6366F1"/>
      </a:accent4>
      <a:accent5>
        <a:srgbClr val="EF4444"/>
      </a:accent5>
      <a:accent6>
        <a:srgbClr val="64748B"/>
      </a:accent6>
      <a:hlink>
        <a:srgbClr val="0563C1"/>
      </a:hlink>
      <a:folHlink>
        <a:srgbClr val="954F72"/>
      </a:folHlink>
    </a:clrScheme>
    <a:fontScheme name="Modulo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odulo 2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licitacion-td-2026</Application>
  <Slides>10</Slides>
  <Notes>10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PF1821 · Cápsula 3 · Datos en movimiento</dc:title>
  <dc:creator>licitacion-td-2026</dc:creator>
  <dcterms:created xsi:type="dcterms:W3CDTF">2026-09-25T01:47:41Z</dcterms:created>
</cp:coreProperties>
</file>
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3 del módulo 2, Fundamentos de n8n y manipulación de datos: Datos en movimiento. "Datos limpios, workflows confiables".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Esta cápsula corresponde al aprendizaje esperado 3 del plan formativo: Manipular datos utilizando nodos fundamentales de n8n, para transformar información según requerimientos específicos del workflow. Sus criterios de evaluación son: Manipula datos utilizando nodos fundamentales de n8n, para transformar información según requerimientos específicos del workflow. Implementa transformaciones de datos entre formatos JSON, CSV y XML. Aplica expresiones n8n para procesar y filtrar información. Conecta bases de datos básicas usando Supabase, de acuerdo con los requerimientos del workflow.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Cómo viajan los datos. Cada ítem es un objeto JSON con campos; un nodo puede recibir muchos ítems y procesa cada uno. Arrays y objetos anidados.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Nodos core (1): modificar, filtrar y resumir. Edit Fields (Set): crear, cambiar o quitar campos, Filter: dejar pasar solo lo que cumple, Summarize: agrupar y sumar, contar, promediar.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Nodos core (2): dividir, combinar y decidir. Split Out: separar una lista en ítems, Merge: unir dos flujos (por campo o por posición), If o Switch: enviar cada ítem por un camino según una condición (If: dos caminos; Switch: varios). La lógica condicional se profundiza en la cápsula 4.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Expresiones. Entre dobles llaves. json punto campo (datos del nodo), la referencia a otro nodo por su nombre (datos de otro nodo), now (fecha y hora), métodos de texto y número: trim, toLowerCase, Number, toFixed. La vista previa muestra el resultado antes de ejecutar.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Tipos de datos. Texto, número, booleano, fecha. Un número guardado como texto suma mal y la base de datos lo rechaza. Declarar el tipo en Edit Fields.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Formatos. JSON (nativo de n8n), CSV (Extract from File para leerlo, Convert to File para generarlo), XML (nodo XML, de JSON a XML y de vuelta).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Variables y configuración. Valores que no se escriben a mano en cada nodo: credenciales guardadas y variables del entorno de la instancia, cuando el administrador lo habilita.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Supabase en 5 minutos. Base de datos PostgreSQL en la nube: proyecto, luego tabla con columnas y tipos, luego credencial en n8n (URL del proyecto y clave de servicio, que nunca se pega en un nodo ni en una captura).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CRUD con el nodo Supabase. Create a row, Get a row o Get many rows, Update a row, Delete a row. Datos relacionales: una devolución guarda el id de su pedido.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Actividad 1, parte C: resumen por comuna en XML, y la tabla pedidos con tus filas.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609600"/>
            <a:ext cx="7315200" cy="533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9FC3E6"/>
                </a:solidFill>
              </a:rPr>
              <a:t>MÓDULO 2 · FUNDAMENTOS DE N8N Y MANIPULACIÓN DE DATOS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3: Datos en movimiento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"Datos limpios, workflows confiables".</a:t>
            </a:r>
          </a:p>
          <a:p>
            <a:r>
              <a:rPr lang="es-CL" sz="2200" dirty="0">
                <a:solidFill>
                  <a:srgbClr val="E5E7EB"/>
                </a:solidFill>
              </a:rPr>
              <a:t>Contenido del plan: 3. NODOS CORE DE N8N Y MANIPULACIÓN DE DATOS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APRENDIZAJE Y CRITERIOS TEXTUALES DEL PLAN FORMATIVO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Aprendizaje esperado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400" b="1" dirty="0">
                <a:solidFill>
                  <a:srgbClr val="1F2937"/>
                </a:solidFill>
              </a:rPr>
              <a:t>MANIPULAR DATOS UTILIZANDO NODOS FUNDAMENTALES DE N8N, PARA TRANSFORMAR INFORMACIÓN SEGÚN REQUERIMIENTOS ESPECÍFICOS DEL WORKFLOW.</a:t>
            </a:r>
          </a:p>
          <a:p>
            <a:pPr marL="0" indent="0">
              <a:spcBef>
                <a:spcPts val="1400"/>
              </a:spcBef>
              <a:buNone/>
            </a:pPr>
            <a:r>
              <a:rPr lang="es-CL" sz="1200" b="1" dirty="0">
                <a:solidFill>
                  <a:srgbClr val="0E7490"/>
                </a:solidFill>
              </a:rPr>
              <a:t>CRITERIOS DE EVALUACIÓN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400" dirty="0">
                <a:solidFill>
                  <a:srgbClr val="1F2937"/>
                </a:solidFill>
              </a:rPr>
              <a:t>3.1 MANIPULA DATOS UTILIZANDO NODOS FUNDAMENTALES DE N8N, PARA TRANSFORMAR INFORMACIÓN SEGÚN REQUERIMIENTOS ESPECÍFICOS DEL WORKFLOW.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400" dirty="0">
                <a:solidFill>
                  <a:srgbClr val="1F2937"/>
                </a:solidFill>
              </a:rPr>
              <a:t>3.2 IMPLEMENTA TRANSFORMACIONES DE DATOS ENTRE FORMATOS JSON, CSV Y XML.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400" dirty="0">
                <a:solidFill>
                  <a:srgbClr val="1F2937"/>
                </a:solidFill>
              </a:rPr>
              <a:t>3.3 APLICA EXPRESIONES N8N PARA PROCESAR Y FILTRAR INFORMACIÓN.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400" dirty="0">
                <a:solidFill>
                  <a:srgbClr val="1F2937"/>
                </a:solidFill>
              </a:rPr>
              <a:t>3.4 CONECTA BASES DE DATOS BÁSICAS USANDO SUPABASE, DE ACUERDO CON LOS REQUERIMIENTOS DEL WORKFLOW.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MANIPULACIÓN DE DATOS.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MANEJO DE ARRAYS Y OBJETOS.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Cómo viajan los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Cada ítem es un objeto JSON con campos; un nodo puede recibir muchos ítems y procesa cada uno.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Arrays y objetos anidados.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1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100" b="1" dirty="0">
                <a:solidFill>
                  <a:srgbClr val="0F3D5E"/>
                </a:solidFill>
              </a:rPr>
              <a:t>SET: MODIFICACIÓN DE DATOS.</a:t>
            </a:r>
          </a:p>
          <a:p>
            <a:r>
              <a:rPr lang="es-CL" sz="1100" b="1" dirty="0">
                <a:solidFill>
                  <a:srgbClr val="0F3D5E"/>
                </a:solidFill>
              </a:rPr>
              <a:t>FILTER: FILTRADO DE DATOS.</a:t>
            </a:r>
          </a:p>
          <a:p>
            <a:r>
              <a:rPr lang="es-CL" sz="1100" b="1" dirty="0">
                <a:solidFill>
                  <a:srgbClr val="0F3D5E"/>
                </a:solidFill>
              </a:rPr>
              <a:t>SUMMARIZE: AGREGACIÓN DE DATOS.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Nodos core (1): modificar, filtrar y resumir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Edit Fields (Set)</a:t>
            </a:r>
            <a:r>
              <a:rPr lang="es-CL" sz="2400" dirty="0">
                <a:solidFill>
                  <a:srgbClr val="1F2937"/>
                </a:solidFill>
              </a:rPr>
              <a:t>: crear, cambiar o quitar campos · </a:t>
            </a:r>
            <a:r>
              <a:rPr lang="es-CL" sz="2400" b="1" dirty="0">
                <a:solidFill>
                  <a:srgbClr val="1F2937"/>
                </a:solidFill>
              </a:rPr>
              <a:t>Filter</a:t>
            </a:r>
            <a:r>
              <a:rPr lang="es-CL" sz="2400" dirty="0">
                <a:solidFill>
                  <a:srgbClr val="1F2937"/>
                </a:solidFill>
              </a:rPr>
              <a:t>: dejar pasar solo lo que cumple · </a:t>
            </a:r>
            <a:r>
              <a:rPr lang="es-CL" sz="2400" b="1" dirty="0">
                <a:solidFill>
                  <a:srgbClr val="1F2937"/>
                </a:solidFill>
              </a:rPr>
              <a:t>Summarize</a:t>
            </a:r>
            <a:r>
              <a:rPr lang="es-CL" sz="2400" dirty="0">
                <a:solidFill>
                  <a:srgbClr val="1F2937"/>
                </a:solidFill>
              </a:rPr>
              <a:t>: agrupar y sumar, contar, promediar.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1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100" b="1" dirty="0">
                <a:solidFill>
                  <a:srgbClr val="0F3D5E"/>
                </a:solidFill>
              </a:rPr>
              <a:t>SPLIT: DIVISIÓN DE DATOS.</a:t>
            </a:r>
          </a:p>
          <a:p>
            <a:r>
              <a:rPr lang="es-CL" sz="1100" b="1" dirty="0">
                <a:solidFill>
                  <a:srgbClr val="0F3D5E"/>
                </a:solidFill>
              </a:rPr>
              <a:t>MERGE: COMBINACIÓN DE DATOS.</a:t>
            </a:r>
          </a:p>
          <a:p>
            <a:r>
              <a:rPr lang="es-CL" sz="1100" b="1" dirty="0">
                <a:solidFill>
                  <a:srgbClr val="0F3D5E"/>
                </a:solidFill>
              </a:rPr>
              <a:t>IF/SWITCH: LÓGICA CONDICIONAL.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Nodos core (2): dividir, combinar y decidir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Split Out</a:t>
            </a:r>
            <a:r>
              <a:rPr lang="es-CL" sz="2000" dirty="0">
                <a:solidFill>
                  <a:srgbClr val="1F2937"/>
                </a:solidFill>
              </a:rPr>
              <a:t>: separar una lista en ítems · </a:t>
            </a:r>
            <a:r>
              <a:rPr lang="es-CL" sz="2000" b="1" dirty="0">
                <a:solidFill>
                  <a:srgbClr val="1F2937"/>
                </a:solidFill>
              </a:rPr>
              <a:t>Merge</a:t>
            </a:r>
            <a:r>
              <a:rPr lang="es-CL" sz="2000" dirty="0">
                <a:solidFill>
                  <a:srgbClr val="1F2937"/>
                </a:solidFill>
              </a:rPr>
              <a:t>: unir dos flujos (por campo o por posición) · </a:t>
            </a:r>
            <a:r>
              <a:rPr lang="es-CL" sz="2000" b="1" dirty="0">
                <a:solidFill>
                  <a:srgbClr val="1F2937"/>
                </a:solidFill>
              </a:rPr>
              <a:t>If / Switch</a:t>
            </a:r>
            <a:r>
              <a:rPr lang="es-CL" sz="2000" dirty="0">
                <a:solidFill>
                  <a:srgbClr val="1F2937"/>
                </a:solidFill>
              </a:rPr>
              <a:t>: enviar cada ítem por un camino según una condición (If: dos caminos; Switch: varios).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La lógica condicional se profundiza en la cápsula 4.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EXPRESIONES N8N: SINTAXIS Y FUNCIONES.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Expresiones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Entre {{ }}.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$json.campo (datos del nodo) · $('Nombre del nodo').item.json.campo (datos de otro nodo) · $now (fecha y hora) · métodos de texto y número: trim(), toLowerCase(), Number(), toFixed().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La vista previa muestra el resultado antes de ejecutar.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MANIPULACIÓN DE DATOS.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Tipos de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Texto, número, booleano, fecha.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 número guardado como texto suma mal y la base de datos lo rechaza.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Declarar el tipo en Edit Fields.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TRANSFORMACIÓN DE FORMATOS.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Formatos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JSON</a:t>
            </a:r>
            <a:r>
              <a:rPr lang="es-CL" sz="2400" dirty="0">
                <a:solidFill>
                  <a:srgbClr val="1F2937"/>
                </a:solidFill>
              </a:rPr>
              <a:t> (nativo de n8n) · </a:t>
            </a:r>
            <a:r>
              <a:rPr lang="es-CL" sz="2400" b="1" dirty="0">
                <a:solidFill>
                  <a:srgbClr val="1F2937"/>
                </a:solidFill>
              </a:rPr>
              <a:t>CSV</a:t>
            </a:r>
            <a:r>
              <a:rPr lang="es-CL" sz="2400" dirty="0">
                <a:solidFill>
                  <a:srgbClr val="1F2937"/>
                </a:solidFill>
              </a:rPr>
              <a:t> (Extract from File para leerlo, Convert to File para generarlo) · </a:t>
            </a:r>
            <a:r>
              <a:rPr lang="es-CL" sz="2400" b="1" dirty="0">
                <a:solidFill>
                  <a:srgbClr val="1F2937"/>
                </a:solidFill>
              </a:rPr>
              <a:t>XML</a:t>
            </a:r>
            <a:r>
              <a:rPr lang="es-CL" sz="2400" dirty="0">
                <a:solidFill>
                  <a:srgbClr val="1F2937"/>
                </a:solidFill>
              </a:rPr>
              <a:t> (nodo XML, de JSON a XML y de vuelta).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VARIABLES DE ENTORNO.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Variables y configuración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Valores que no se escriben a mano en cada nodo: credenciales guardadas y variables del entorno de la instancia, cuando el administrador lo habilita.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INTEGRACIÓN CON BASES DE DATOS.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SUPABASE: CONFIGURACIÓN BÁSICA.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Supabase en 5 minutos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Base de datos PostgreSQL en la nube: proyecto → tabla con columnas y tipos → credencial en n8n (URL del proyecto y clave de servicio, que </a:t>
            </a:r>
            <a:r>
              <a:rPr lang="es-CL" sz="2400" b="1" dirty="0">
                <a:solidFill>
                  <a:srgbClr val="1F2937"/>
                </a:solidFill>
              </a:rPr>
              <a:t>nunca</a:t>
            </a:r>
            <a:r>
              <a:rPr lang="es-CL" sz="2400" dirty="0">
                <a:solidFill>
                  <a:srgbClr val="1F2937"/>
                </a:solidFill>
              </a:rPr>
              <a:t> se pega en un nodo ni en una captura).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OPERACIONES CRUD BÁSICAS.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MANEJO DE DATOS RELACIONALES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CRUD con el nodo Supabase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Create a row · Get a row / Get many rows · Update a row · Delete a row.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Datos relacionales: una devolución guarda el id de su pedido.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PRÁCTICA DEL APRENDIZAJE ESPERADO 3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Actividad 1, parte C: resumen por comuna en XML, y la tabla pedidos con tus filas.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3 · Aprendizaje esperado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12</Slides>
  <Notes>12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Cápsula 3 · Datos en movimiento</dc:title>
  <dc:creator>licitacion-td-2026</dc:creator>
  <dcterms:created xsi:type="dcterms:W3CDTF">2026-09-25T04:22:04Z</dcterms:created>
</cp:coreProperties>
</file>
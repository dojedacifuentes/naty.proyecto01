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0"/>
    <p:sldId id="257" r:id="rId11"/>
    <p:sldId id="258" r:id="rId12"/>
    <p:sldId id="259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67" r:id="rId21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8" Type="http://schemas.openxmlformats.org/officeDocument/2006/relationships/slide" Target="slides/slide9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slide" Target="slides/slide1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s-C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sz="1200">
        <a:solidFill>
          <a:schemeClr val="tx1"/>
        </a:solidFill>
        <a:latin typeface="+mn-lt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Te doy la bienvenida a la cápsula 3 del módulo 2, Fundamentos de n8n y manipulación de datos: Datos en movimiento. "Datos limpios, workflows confiables".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Esta cápsula corresponde al aprendizaje esperado 3 del plan formativo: Manipular datos utilizando nodos fundamentales de n8n, para transformar información según requerimientos específicos del workflow. Sus criterios de evaluación son: Manipula datos utilizando nodos fundamentales de n8n, para transformar información según requerimientos específicos del workflow. Implementa transformaciones de datos entre formatos JSON, CSV y XML. Aplica expresiones n8n para procesar y filtrar información. Conecta bases de datos básicas usando Supabase, de acuerdo con los requerimientos del workflow.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Cómo viajan los datos. Cada ítem es un objeto JSON con campos; un nodo puede recibir muchos ítems y procesa cada uno. Arrays y objetos anidados.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Nodos core (1): modificar, filtrar y resumir. Edit Fields (Set): crear, cambiar o quitar campos, Filter: dejar pasar solo lo que cumple, Summarize: agrupar y sumar, contar, promediar.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Nodos core (2): dividir, combinar y decidir. Split Out: separar una lista en ítems, Merge: unir dos flujos (por campo o por posición), If o Switch: enviar cada ítem por un camino según una condición (If: dos caminos; Switch: varios). La lógica condicional se profundiza en la cápsula 4.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Expresiones. Entre dobles llaves. json punto campo (datos del nodo), la referencia a otro nodo por su nombre (datos de otro nodo), now (fecha y hora), métodos de texto y número: trim, toLowerCase, Number, toFixed. La vista previa muestra el resultado antes de ejecutar.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Tipos de datos. Texto, número, booleano, fecha. Un número guardado como texto suma mal y la base de datos lo rechaza. Declarar el tipo en Edit Fields.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Formatos. JSON (nativo de n8n), CSV (Extract from File para leerlo, Convert to File para generarlo), XML (nodo XML, de JSON a XML y de vuelta).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Variables y configuración. Valores que no se escriben a mano en cada nodo: credenciales guardadas y variables del entorno de la instancia, cuando el administrador lo habilita.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Supabase en 5 minutos. Base de datos PostgreSQL en la nube: proyecto, luego tabla con columnas y tipos, luego credencial en n8n (URL del proyecto y clave de servicio, que nunca se pega en un nodo ni en una captura).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CRUD con el nodo Supabase. Create a row, Get a row o Get many rows, Update a row, Delete a row. Datos relacionales: una devolución guarda el id de su pedido.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CL" dirty="0"/>
              <a:t>Tu tarea. Actividad 1, parte C: resumen por comuna en XML, y la tabla pedidos con tus filas.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3200"/>
      </a:lvl1pPr>
    </p:titleStyle>
    <p:bodyStyle>
      <a:lvl1pPr>
        <a:defRPr sz="24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D5E"/>
          </a:solidFill>
          <a:ln>
            <a:noFill/>
          </a:ln>
        </p:spPr>
      </p:sp>
      <p:sp>
        <p:nvSpPr>
          <p:cNvPr id="3" name="Franja 3"/>
          <p:cNvSpPr/>
          <p:nvPr/>
        </p:nvSpPr>
        <p:spPr>
          <a:xfrm>
            <a:off x="609600" y="3276600"/>
            <a:ext cx="152400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609600"/>
            <a:ext cx="7315200" cy="533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9FC3E6"/>
                </a:solidFill>
              </a:rPr>
              <a:t>MÓDULO 2 · FUNDAMENTOS DE N8N Y MANIPULACIÓN DE DATOS</a:t>
            </a:r>
          </a:p>
        </p:txBody>
      </p:sp>
      <p:sp>
        <p:nvSpPr>
          <p:cNvPr id="4" name="Título"/>
          <p:cNvSpPr txBox="1"/>
          <p:nvPr/>
        </p:nvSpPr>
        <p:spPr>
          <a:xfrm>
            <a:off x="609600" y="1219200"/>
            <a:ext cx="7315200" cy="19812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4000" b="1" dirty="0">
                <a:solidFill>
                  <a:srgbClr val="FFFFFF"/>
                </a:solidFill>
              </a:rPr>
              <a:t>Cápsula 3: Datos en movimiento</a:t>
            </a:r>
          </a:p>
        </p:txBody>
      </p:sp>
      <p:sp>
        <p:nvSpPr>
          <p:cNvPr id="5" name="Subtítulo"/>
          <p:cNvSpPr txBox="1"/>
          <p:nvPr/>
        </p:nvSpPr>
        <p:spPr>
          <a:xfrm>
            <a:off x="609600" y="3505200"/>
            <a:ext cx="7315200" cy="18288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2200" dirty="0">
                <a:solidFill>
                  <a:srgbClr val="E5E7EB"/>
                </a:solidFill>
              </a:rPr>
              <a:t>"Datos limpios, workflows confiables".</a:t>
            </a:r>
          </a:p>
          <a:p>
            <a:r>
              <a:rPr lang="es-CL" sz="2200" dirty="0">
                <a:solidFill>
                  <a:srgbClr val="E5E7EB"/>
                </a:solidFill>
              </a:rPr>
              <a:t>Contenido del plan: 3. NODOS CORE DE N8N Y MANIPULACIÓN DE DATOS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CBD5E1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APRENDIZAJE Y CRITERIOS TEXTUALES DEL PLAN FORMATIVO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Aprendizaje esperado 3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400" b="1" dirty="0">
                <a:solidFill>
                  <a:srgbClr val="1F2937"/>
                </a:solidFill>
              </a:rPr>
              <a:t>MANIPULAR DATOS UTILIZANDO NODOS FUNDAMENTALES DE N8N, PARA TRANSFORMAR INFORMACIÓN SEGÚN REQUERIMIENTOS ESPECÍFICOS DEL WORKFLOW.</a:t>
            </a:r>
          </a:p>
          <a:p>
            <a:pPr marL="0" indent="0">
              <a:spcBef>
                <a:spcPts val="1400"/>
              </a:spcBef>
              <a:buNone/>
            </a:pPr>
            <a:r>
              <a:rPr lang="es-CL" sz="1200" b="1" dirty="0">
                <a:solidFill>
                  <a:srgbClr val="0E7490"/>
                </a:solidFill>
              </a:rPr>
              <a:t>CRITERIOS DE EVALUACIÓN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400" dirty="0">
                <a:solidFill>
                  <a:srgbClr val="1F2937"/>
                </a:solidFill>
              </a:rPr>
              <a:t>3.1 MANIPULA DATOS UTILIZANDO NODOS FUNDAMENTALES DE N8N, PARA TRANSFORMAR INFORMACIÓN SEGÚN REQUERIMIENTOS ESPECÍFICOS DEL WORKFLOW.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400" dirty="0">
                <a:solidFill>
                  <a:srgbClr val="1F2937"/>
                </a:solidFill>
              </a:rPr>
              <a:t>3.2 IMPLEMENTA TRANSFORMACIONES DE DATOS ENTRE FORMATOS JSON, CSV Y XML.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400" dirty="0">
                <a:solidFill>
                  <a:srgbClr val="1F2937"/>
                </a:solidFill>
              </a:rPr>
              <a:t>3.3 APLICA EXPRESIONES N8N PARA PROCESAR Y FILTRAR INFORMACIÓN.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1400" dirty="0">
                <a:solidFill>
                  <a:srgbClr val="1F2937"/>
                </a:solidFill>
              </a:rPr>
              <a:t>3.4 CONECTA BASES DE DATOS BÁSICAS USANDO SUPABASE, DE ACUERDO CON LOS REQUERIMIENTOS DEL WORKFLOW.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MANIPULACIÓN DE DATOS.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MANEJO DE ARRAYS Y OBJETOS.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Cómo viajan los datos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Cada ítem es un objeto JSON con campos; un nodo puede recibir muchos ítems y procesa cada uno.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Arrays y objetos anidados.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1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SET: MODIFICACIÓN DE DATOS.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FILTER: FILTRADO DE DATOS.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SUMMARIZE: AGREGACIÓN DE DATOS.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Nodos core (1): modificar, filtrar y resumir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Edit Fields (Set)</a:t>
            </a:r>
            <a:r>
              <a:rPr lang="es-CL" sz="2400" dirty="0">
                <a:solidFill>
                  <a:srgbClr val="1F2937"/>
                </a:solidFill>
              </a:rPr>
              <a:t>: crear, cambiar o quitar campos · </a:t>
            </a:r>
            <a:r>
              <a:rPr lang="es-CL" sz="2400" b="1" dirty="0">
                <a:solidFill>
                  <a:srgbClr val="1F2937"/>
                </a:solidFill>
              </a:rPr>
              <a:t>Filter</a:t>
            </a:r>
            <a:r>
              <a:rPr lang="es-CL" sz="2400" dirty="0">
                <a:solidFill>
                  <a:srgbClr val="1F2937"/>
                </a:solidFill>
              </a:rPr>
              <a:t>: dejar pasar solo lo que cumple · </a:t>
            </a:r>
            <a:r>
              <a:rPr lang="es-CL" sz="2400" b="1" dirty="0">
                <a:solidFill>
                  <a:srgbClr val="1F2937"/>
                </a:solidFill>
              </a:rPr>
              <a:t>Summarize</a:t>
            </a:r>
            <a:r>
              <a:rPr lang="es-CL" sz="2400" dirty="0">
                <a:solidFill>
                  <a:srgbClr val="1F2937"/>
                </a:solidFill>
              </a:rPr>
              <a:t>: agrupar y sumar, contar, promediar.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1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SPLIT: DIVISIÓN DE DATOS.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MERGE: COMBINACIÓN DE DATOS.</a:t>
            </a:r>
          </a:p>
          <a:p>
            <a:r>
              <a:rPr lang="es-CL" sz="1100" b="1" dirty="0">
                <a:solidFill>
                  <a:srgbClr val="0F3D5E"/>
                </a:solidFill>
              </a:rPr>
              <a:t>IF/SWITCH: LÓGICA CONDICIONAL.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Nodos core (2): dividir, combinar y decidir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b="1" dirty="0">
                <a:solidFill>
                  <a:srgbClr val="1F2937"/>
                </a:solidFill>
              </a:rPr>
              <a:t>Split Out</a:t>
            </a:r>
            <a:r>
              <a:rPr lang="es-CL" sz="2000" dirty="0">
                <a:solidFill>
                  <a:srgbClr val="1F2937"/>
                </a:solidFill>
              </a:rPr>
              <a:t>: separar una lista en ítems · </a:t>
            </a:r>
            <a:r>
              <a:rPr lang="es-CL" sz="2000" b="1" dirty="0">
                <a:solidFill>
                  <a:srgbClr val="1F2937"/>
                </a:solidFill>
              </a:rPr>
              <a:t>Merge</a:t>
            </a:r>
            <a:r>
              <a:rPr lang="es-CL" sz="2000" dirty="0">
                <a:solidFill>
                  <a:srgbClr val="1F2937"/>
                </a:solidFill>
              </a:rPr>
              <a:t>: unir dos flujos (por campo o por posición) · </a:t>
            </a:r>
            <a:r>
              <a:rPr lang="es-CL" sz="2000" b="1" dirty="0">
                <a:solidFill>
                  <a:srgbClr val="1F2937"/>
                </a:solidFill>
              </a:rPr>
              <a:t>If / Switch</a:t>
            </a:r>
            <a:r>
              <a:rPr lang="es-CL" sz="2000" dirty="0">
                <a:solidFill>
                  <a:srgbClr val="1F2937"/>
                </a:solidFill>
              </a:rPr>
              <a:t>: enviar cada ítem por un camino según una condición (If: dos caminos; Switch: varios).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La lógica condicional se profundiza en la cápsula 4.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EXPRESIONES N8N: SINTAXIS Y FUNCIONES.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Expresiones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Entre {{ }}.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$json.campo (datos del nodo) · $('Nombre del nodo').item.json.campo (datos de otro nodo) · $now (fecha y hora) · métodos de texto y número: trim(), toLowerCase(), Number(), toFixed().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000" dirty="0">
                <a:solidFill>
                  <a:srgbClr val="1F2937"/>
                </a:solidFill>
              </a:rPr>
              <a:t>La vista previa muestra el resultado antes de ejecutar.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MANIPULACIÓN DE DATOS.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Tipos de datos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Texto, número, booleano, fecha.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Un número guardado como texto suma mal y la base de datos lo rechaza.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Declarar el tipo en Edit Fields.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TRANSFORMACIÓN DE FORMATOS.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Formatos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b="1" dirty="0">
                <a:solidFill>
                  <a:srgbClr val="1F2937"/>
                </a:solidFill>
              </a:rPr>
              <a:t>JSON</a:t>
            </a:r>
            <a:r>
              <a:rPr lang="es-CL" sz="2400" dirty="0">
                <a:solidFill>
                  <a:srgbClr val="1F2937"/>
                </a:solidFill>
              </a:rPr>
              <a:t> (nativo de n8n) · </a:t>
            </a:r>
            <a:r>
              <a:rPr lang="es-CL" sz="2400" b="1" dirty="0">
                <a:solidFill>
                  <a:srgbClr val="1F2937"/>
                </a:solidFill>
              </a:rPr>
              <a:t>CSV</a:t>
            </a:r>
            <a:r>
              <a:rPr lang="es-CL" sz="2400" dirty="0">
                <a:solidFill>
                  <a:srgbClr val="1F2937"/>
                </a:solidFill>
              </a:rPr>
              <a:t> (Extract from File para leerlo, Convert to File para generarlo) · </a:t>
            </a:r>
            <a:r>
              <a:rPr lang="es-CL" sz="2400" b="1" dirty="0">
                <a:solidFill>
                  <a:srgbClr val="1F2937"/>
                </a:solidFill>
              </a:rPr>
              <a:t>XML</a:t>
            </a:r>
            <a:r>
              <a:rPr lang="es-CL" sz="2400" dirty="0">
                <a:solidFill>
                  <a:srgbClr val="1F2937"/>
                </a:solidFill>
              </a:rPr>
              <a:t> (nodo XML, de JSON a XML y de vuelta).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VARIABLES DE ENTORNO.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Variables y configuración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Valores que no se escriben a mano en cada nodo: credenciales guardadas y variables del entorno de la instancia, cuando el administrador lo habilita.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INTEGRACIÓN CON BASES DE DATOS.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SUPABASE: CONFIGURACIÓN BÁSICA.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Supabase en 5 minutos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Base de datos PostgreSQL en la nube: proyecto → tabla con columnas y tipos → credencial en n8n (URL del proyecto y clave de servicio, que </a:t>
            </a:r>
            <a:r>
              <a:rPr lang="es-CL" sz="2400" b="1" dirty="0">
                <a:solidFill>
                  <a:srgbClr val="1F2937"/>
                </a:solidFill>
              </a:rPr>
              <a:t>nunca</a:t>
            </a:r>
            <a:r>
              <a:rPr lang="es-CL" sz="2400" dirty="0">
                <a:solidFill>
                  <a:srgbClr val="1F2937"/>
                </a:solidFill>
              </a:rPr>
              <a:t> se pega en un nodo ni en una captura).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CONTENIDO DEL PLAN (TEXTUAL)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OPERACIONES CRUD BÁSICAS.</a:t>
            </a:r>
          </a:p>
          <a:p>
            <a:r>
              <a:rPr lang="es-CL" sz="1200" b="1" dirty="0">
                <a:solidFill>
                  <a:srgbClr val="0F3D5E"/>
                </a:solidFill>
              </a:rPr>
              <a:t>MANEJO DE DATOS RELACIONALES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CRUD con el nodo Supabase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Create a row · Get a row / Get many rows · Update a row · Delete a row.</a:t>
            </a:r>
          </a:p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Datos relacionales: una devolución guarda el id de su pedido.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nja 2"/>
          <p:cNvSpPr/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7" name="Etiqueta"/>
          <p:cNvSpPr txBox="1"/>
          <p:nvPr/>
        </p:nvSpPr>
        <p:spPr>
          <a:xfrm>
            <a:off x="609600" y="228600"/>
            <a:ext cx="7315200" cy="9144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1200" b="1" dirty="0">
                <a:solidFill>
                  <a:srgbClr val="0E7490"/>
                </a:solidFill>
              </a:rPr>
              <a:t>PRÁCTICA DEL APRENDIZAJE ESPERADO 3</a:t>
            </a:r>
          </a:p>
        </p:txBody>
      </p:sp>
      <p:sp>
        <p:nvSpPr>
          <p:cNvPr id="3" name="Título"/>
          <p:cNvSpPr txBox="1"/>
          <p:nvPr/>
        </p:nvSpPr>
        <p:spPr>
          <a:xfrm>
            <a:off x="609600" y="1181100"/>
            <a:ext cx="7315200" cy="685800"/>
          </a:xfrm>
          <a:prstGeom prst="rect">
            <a:avLst/>
          </a:prstGeom>
          <a:noFill/>
        </p:spPr>
        <p:txBody>
          <a:bodyPr wrap="square" lIns="0" rIns="0" anchor="b">
            <a:normAutofit/>
          </a:bodyPr>
          <a:lstStyle/>
          <a:p>
            <a:r>
              <a:rPr lang="es-CL" sz="2800" b="1" dirty="0">
                <a:solidFill>
                  <a:srgbClr val="0F3D5E"/>
                </a:solidFill>
              </a:rPr>
              <a:t>Tu tarea</a:t>
            </a:r>
          </a:p>
        </p:txBody>
      </p:sp>
      <p:sp>
        <p:nvSpPr>
          <p:cNvPr id="4" name="Franja 4"/>
          <p:cNvSpPr/>
          <p:nvPr/>
        </p:nvSpPr>
        <p:spPr>
          <a:xfrm>
            <a:off x="609600" y="1943100"/>
            <a:ext cx="106680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</p:sp>
      <p:sp>
        <p:nvSpPr>
          <p:cNvPr id="5" name="Contenido"/>
          <p:cNvSpPr txBox="1"/>
          <p:nvPr/>
        </p:nvSpPr>
        <p:spPr>
          <a:xfrm>
            <a:off x="609600" y="2095500"/>
            <a:ext cx="7315200" cy="40005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pPr marL="342900" indent="-342900">
              <a:spcBef>
                <a:spcPts val="900"/>
              </a:spcBef>
              <a:buClr>
                <a:srgbClr val="0E7490"/>
              </a:buClr>
              <a:buFont typeface="Arial"/>
              <a:buChar char="•"/>
            </a:pPr>
            <a:r>
              <a:rPr lang="es-CL" sz="2400" dirty="0">
                <a:solidFill>
                  <a:srgbClr val="1F2937"/>
                </a:solidFill>
              </a:rPr>
              <a:t>Actividad 1, parte C: resumen por comuna en XML, y la tabla pedidos con tus filas.</a:t>
            </a:r>
          </a:p>
        </p:txBody>
      </p:sp>
      <p:sp>
        <p:nvSpPr>
          <p:cNvPr id="6" name="Pie"/>
          <p:cNvSpPr txBox="1"/>
          <p:nvPr/>
        </p:nvSpPr>
        <p:spPr>
          <a:xfrm>
            <a:off x="609600" y="6248400"/>
            <a:ext cx="7315200" cy="381000"/>
          </a:xfrm>
          <a:prstGeom prst="rect">
            <a:avLst/>
          </a:prstGeom>
          <a:noFill/>
        </p:spPr>
        <p:txBody>
          <a:bodyPr wrap="square" lIns="0" rIns="0" anchor="t">
            <a:normAutofit/>
          </a:bodyPr>
          <a:lstStyle/>
          <a:p>
            <a:r>
              <a:rPr lang="es-CL" sz="1200" dirty="0">
                <a:solidFill>
                  <a:srgbClr val="6B7280"/>
                </a:solidFill>
              </a:rPr>
              <a:t>PF1821 · Módulo 2 · Cápsula 3 · Aprendizaje esperado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ulo 2">
  <a:themeElements>
    <a:clrScheme name="Modulo 2">
      <a:dk1>
        <a:srgbClr val="1F2937"/>
      </a:dk1>
      <a:lt1>
        <a:srgbClr val="FFFFFF"/>
      </a:lt1>
      <a:dk2>
        <a:srgbClr val="0F3D5E"/>
      </a:dk2>
      <a:lt2>
        <a:srgbClr val="F3F4F6"/>
      </a:lt2>
      <a:accent1>
        <a:srgbClr val="0E7490"/>
      </a:accent1>
      <a:accent2>
        <a:srgbClr val="F59E0B"/>
      </a:accent2>
      <a:accent3>
        <a:srgbClr val="10B981"/>
      </a:accent3>
      <a:accent4>
        <a:srgbClr val="6366F1"/>
      </a:accent4>
      <a:accent5>
        <a:srgbClr val="EF4444"/>
      </a:accent5>
      <a:accent6>
        <a:srgbClr val="64748B"/>
      </a:accent6>
      <a:hlink>
        <a:srgbClr val="0563C1"/>
      </a:hlink>
      <a:folHlink>
        <a:srgbClr val="954F72"/>
      </a:folHlink>
    </a:clrScheme>
    <a:fontScheme name="Modulo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Modulo 2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licitacion-td-2026</Application>
  <Slides>12</Slides>
  <Notes>12</Not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PF1821 · Cápsula 3 · Datos en movimiento</dc:title>
  <dc:creator>licitacion-td-2026</dc:creator>
  <dcterms:created xsi:type="dcterms:W3CDTF">2026-10-02T04:00:29Z</dcterms:created>
</cp:coreProperties>
</file>
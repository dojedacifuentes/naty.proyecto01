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0"/>
    <p:sldId id="257" r:id="rId11"/>
    <p:sldId id="258" r:id="rId12"/>
    <p:sldId id="259" r:id="rId13"/>
    <p:sldId id="260" r:id="rId14"/>
    <p:sldId id="261" r:id="rId15"/>
    <p:sldId id="262" r:id="rId16"/>
    <p:sldId id="263" r:id="rId17"/>
    <p:sldId id="264" r:id="rId18"/>
    <p:sldId id="265" r:id="rId19"/>
    <p:sldId id="266" r:id="rId20"/>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sp>
      <p:sp>
        <p:nvSpPr>
          <p:cNvPr id="3" name="Notas"/>
          <p:cNvSpPr>
            <a:spLocks noGrp="1"/>
          </p:cNvSpPr>
          <p:nvPr>
            <p:ph type="body" sz="quarter" idx="3"/>
          </p:nvPr>
        </p:nvSpPr>
        <p:spPr>
          <a:xfrm>
            <a:off x="685800" y="4343400"/>
            <a:ext cx="5486400" cy="4114800"/>
          </a:xfrm>
          <a:prstGeom prst="rect">
            <a:avLst/>
          </a:prstGeom>
        </p:spPr>
        <p:txBody>
          <a:bodyPr/>
          <a:lstStyle/>
          <a:p>
            <a:endParaRPr lang="es-CL"/>
          </a:p>
        </p:txBody>
      </p:sp>
    </p:spTree>
  </p:cSld>
  <p:clrMap bg1="lt1" tx1="dk1" bg2="lt2" tx2="dk2" accent1="accent1" accent2="accent2" accent3="accent3" accent4="accent4" accent5="accent5" accent6="accent6" hlink="hlink" folHlink="folHlink"/>
  <p:notesStyle>
    <a:lvl1pPr marL="0" algn="l">
      <a:defRPr sz="1200">
        <a:solidFill>
          <a:schemeClr val="tx1"/>
        </a:solidFill>
        <a:latin typeface="+mn-lt"/>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n de diapositiva"/>
          <p:cNvSpPr>
            <a:spLocks noGrp="1" noRot="1" noChangeAspect="1"/>
          </p:cNvSpPr>
          <p:nvPr>
            <p:ph type="sldImg"/>
          </p:nvPr>
        </p:nvSpPr>
        <p:spPr/>
      </p:sp>
      <p:sp>
        <p:nvSpPr>
          <p:cNvPr id="3" name="Notas"/>
          <p:cNvSpPr>
            <a:spLocks noGrp="1"/>
          </p:cNvSpPr>
          <p:nvPr>
            <p:ph type="body" idx="1"/>
          </p:nvPr>
        </p:nvSpPr>
        <p:spPr/>
        <p:txBody>
          <a:bodyPr/>
          <a:lstStyle/>
          <a:p>
            <a:r>
              <a:rPr lang="es-CL" dirty="0"/>
              <a:t>Te doy la bienvenida a la cápsula 3 del módulo 2, Introducción a modelos generativos y consumo por API: Diseño de prompts. "El prompt es la especificación".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n de diapositiva"/>
          <p:cNvSpPr>
            <a:spLocks noGrp="1" noRot="1" noChangeAspect="1"/>
          </p:cNvSpPr>
          <p:nvPr>
            <p:ph type="sldImg"/>
          </p:nvPr>
        </p:nvSpPr>
        <p:spPr/>
      </p:sp>
      <p:sp>
        <p:nvSpPr>
          <p:cNvPr id="3" name="Notas"/>
          <p:cNvSpPr>
            <a:spLocks noGrp="1"/>
          </p:cNvSpPr>
          <p:nvPr>
            <p:ph type="body" idx="1"/>
          </p:nvPr>
        </p:nvSpPr>
        <p:spPr/>
        <p:txBody>
          <a:bodyPr/>
          <a:lstStyle/>
          <a:p>
            <a:r>
              <a:rPr lang="es-CL" dirty="0"/>
              <a:t>Esta cápsula corresponde al aprendizaje esperado 3 del plan formativo: Formular prompts efectivos para modelos generativos en escenarios zero-shot o few-shot, considerando la tarea solicitada y los parámetros de generación disponibles. Sus criterios de evaluación son: Explica la función de un prompt en la interacción con modelos generativos, distinguiendo entre estrategias zero-shot y few-shot, e identificando sus ventajas y limitaciones básicas. Elabora prompts adecuados para tareas específicas, como resumen, generación de código o reformulación de texto, seleccionando la estrategia de prompting más apropiada según el objetivo. Ajusta un prompt de forma iterativa con base en los outputs obtenidos, describiendo los cambios realizados en términos de claridad, estructura o control del comportamiento del modelo.</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n de diapositiva"/>
          <p:cNvSpPr>
            <a:spLocks noGrp="1" noRot="1" noChangeAspect="1"/>
          </p:cNvSpPr>
          <p:nvPr>
            <p:ph type="sldImg"/>
          </p:nvPr>
        </p:nvSpPr>
        <p:spPr/>
      </p:sp>
      <p:sp>
        <p:nvSpPr>
          <p:cNvPr id="3" name="Notas"/>
          <p:cNvSpPr>
            <a:spLocks noGrp="1"/>
          </p:cNvSpPr>
          <p:nvPr>
            <p:ph type="body" idx="1"/>
          </p:nvPr>
        </p:nvSpPr>
        <p:spPr/>
        <p:txBody>
          <a:bodyPr/>
          <a:lstStyle/>
          <a:p>
            <a:r>
              <a:rPr lang="es-CL" dirty="0"/>
              <a:t>Qué es un prompt. La entrada que le dice al modelo qué hacer. Estructura: mensaje de sistema (rol y reglas) y mensaje de usuario (la tarea y los datos).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n de diapositiva"/>
          <p:cNvSpPr>
            <a:spLocks noGrp="1" noRot="1" noChangeAspect="1"/>
          </p:cNvSpPr>
          <p:nvPr>
            <p:ph type="sldImg"/>
          </p:nvPr>
        </p:nvSpPr>
        <p:spPr/>
      </p:sp>
      <p:sp>
        <p:nvSpPr>
          <p:cNvPr id="3" name="Notas"/>
          <p:cNvSpPr>
            <a:spLocks noGrp="1"/>
          </p:cNvSpPr>
          <p:nvPr>
            <p:ph type="body" idx="1"/>
          </p:nvPr>
        </p:nvSpPr>
        <p:spPr/>
        <p:txBody>
          <a:bodyPr/>
          <a:lstStyle/>
          <a:p>
            <a:r>
              <a:rPr lang="es-CL" dirty="0"/>
              <a:t>Tipos de prompting. Zero-shot: solo instrucciones. Few-shot: instrucciones más ejemplos de entrada y salida. Instruccional: pasos explícitos a seguir.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n de diapositiva"/>
          <p:cNvSpPr>
            <a:spLocks noGrp="1" noRot="1" noChangeAspect="1"/>
          </p:cNvSpPr>
          <p:nvPr>
            <p:ph type="sldImg"/>
          </p:nvPr>
        </p:nvSpPr>
        <p:spPr/>
      </p:sp>
      <p:sp>
        <p:nvSpPr>
          <p:cNvPr id="3" name="Notas"/>
          <p:cNvSpPr>
            <a:spLocks noGrp="1"/>
          </p:cNvSpPr>
          <p:nvPr>
            <p:ph type="body" idx="1"/>
          </p:nvPr>
        </p:nvSpPr>
        <p:spPr/>
        <p:txBody>
          <a:bodyPr/>
          <a:lstStyle/>
          <a:p>
            <a:r>
              <a:rPr lang="es-CL" dirty="0"/>
              <a:t>Buenas prácticas. Claridad, rol definido, contexto suficiente, restricciones explícitas, evitar ambigüedad.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n de diapositiva"/>
          <p:cNvSpPr>
            <a:spLocks noGrp="1" noRot="1" noChangeAspect="1"/>
          </p:cNvSpPr>
          <p:nvPr>
            <p:ph type="sldImg"/>
          </p:nvPr>
        </p:nvSpPr>
        <p:spPr/>
      </p:sp>
      <p:sp>
        <p:nvSpPr>
          <p:cNvPr id="3" name="Notas"/>
          <p:cNvSpPr>
            <a:spLocks noGrp="1"/>
          </p:cNvSpPr>
          <p:nvPr>
            <p:ph type="body" idx="1"/>
          </p:nvPr>
        </p:nvSpPr>
        <p:spPr/>
        <p:txBody>
          <a:bodyPr/>
          <a:lstStyle/>
          <a:p>
            <a:r>
              <a:rPr lang="es-CL" dirty="0"/>
              <a:t>Formato de salida. Pedir listas, JSON o tablas cuando otro programa va a leer la respuesta.</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n de diapositiva"/>
          <p:cNvSpPr>
            <a:spLocks noGrp="1" noRot="1" noChangeAspect="1"/>
          </p:cNvSpPr>
          <p:nvPr>
            <p:ph type="sldImg"/>
          </p:nvPr>
        </p:nvSpPr>
        <p:spPr/>
      </p:sp>
      <p:sp>
        <p:nvSpPr>
          <p:cNvPr id="3" name="Notas"/>
          <p:cNvSpPr>
            <a:spLocks noGrp="1"/>
          </p:cNvSpPr>
          <p:nvPr>
            <p:ph type="body" idx="1"/>
          </p:nvPr>
        </p:nvSpPr>
        <p:spPr/>
        <p:txBody>
          <a:bodyPr/>
          <a:lstStyle/>
          <a:p>
            <a:r>
              <a:rPr lang="es-CL" dirty="0"/>
              <a:t>Ejemplos prácticos. Un prompt para generar código, uno para resumir, uno para validar y uno para reformular, con su salida.</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n de diapositiva"/>
          <p:cNvSpPr>
            <a:spLocks noGrp="1" noRot="1" noChangeAspect="1"/>
          </p:cNvSpPr>
          <p:nvPr>
            <p:ph type="sldImg"/>
          </p:nvPr>
        </p:nvSpPr>
        <p:spPr/>
      </p:sp>
      <p:sp>
        <p:nvSpPr>
          <p:cNvPr id="3" name="Notas"/>
          <p:cNvSpPr>
            <a:spLocks noGrp="1"/>
          </p:cNvSpPr>
          <p:nvPr>
            <p:ph type="body" idx="1"/>
          </p:nvPr>
        </p:nvSpPr>
        <p:spPr/>
        <p:txBody>
          <a:bodyPr/>
          <a:lstStyle/>
          <a:p>
            <a:r>
              <a:rPr lang="es-CL" dirty="0"/>
              <a:t>Parámetros. temperature (variedad), max tokens (largo máximo), top p (acota las opciones). Para resúmenes, temperature baja.</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n de diapositiva"/>
          <p:cNvSpPr>
            <a:spLocks noGrp="1" noRot="1" noChangeAspect="1"/>
          </p:cNvSpPr>
          <p:nvPr>
            <p:ph type="sldImg"/>
          </p:nvPr>
        </p:nvSpPr>
        <p:spPr/>
      </p:sp>
      <p:sp>
        <p:nvSpPr>
          <p:cNvPr id="3" name="Notas"/>
          <p:cNvSpPr>
            <a:spLocks noGrp="1"/>
          </p:cNvSpPr>
          <p:nvPr>
            <p:ph type="body" idx="1"/>
          </p:nvPr>
        </p:nvSpPr>
        <p:spPr/>
        <p:txBody>
          <a:bodyPr/>
          <a:lstStyle/>
          <a:p>
            <a:r>
              <a:rPr lang="es-CL" dirty="0"/>
              <a:t>Limitaciones. Alucinaciones, falta de control, sensibilidad a la redacción: un cambio pequeño de palabras cambia la respuesta.</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n de diapositiva"/>
          <p:cNvSpPr>
            <a:spLocks noGrp="1" noRot="1" noChangeAspect="1"/>
          </p:cNvSpPr>
          <p:nvPr>
            <p:ph type="sldImg"/>
          </p:nvPr>
        </p:nvSpPr>
        <p:spPr/>
      </p:sp>
      <p:sp>
        <p:nvSpPr>
          <p:cNvPr id="3" name="Notas"/>
          <p:cNvSpPr>
            <a:spLocks noGrp="1"/>
          </p:cNvSpPr>
          <p:nvPr>
            <p:ph type="body" idx="1"/>
          </p:nvPr>
        </p:nvSpPr>
        <p:spPr/>
        <p:txBody>
          <a:bodyPr/>
          <a:lstStyle/>
          <a:p>
            <a:r>
              <a:rPr lang="es-CL" dirty="0"/>
              <a:t>Iterar. Cambiar una cosa a la vez, anotar qué cambió y qué efecto tuvo, y decidir con los resultados.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n de diapositiva"/>
          <p:cNvSpPr>
            <a:spLocks noGrp="1" noRot="1" noChangeAspect="1"/>
          </p:cNvSpPr>
          <p:nvPr>
            <p:ph type="sldImg"/>
          </p:nvPr>
        </p:nvSpPr>
        <p:spPr/>
      </p:sp>
      <p:sp>
        <p:nvSpPr>
          <p:cNvPr id="3" name="Notas"/>
          <p:cNvSpPr>
            <a:spLocks noGrp="1"/>
          </p:cNvSpPr>
          <p:nvPr>
            <p:ph type="body" idx="1"/>
          </p:nvPr>
        </p:nvSpPr>
        <p:spPr/>
        <p:txBody>
          <a:bodyPr/>
          <a:lstStyle/>
          <a:p>
            <a:r>
              <a:rPr lang="es-CL" dirty="0"/>
              <a:t>Tu tarea. Video interactivo y actividad 2, pasos 2 y 3.</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defRPr sz="3200"/>
      </a:lvl1pPr>
    </p:titleStyle>
    <p:bodyStyle>
      <a:lvl1pPr>
        <a:defRPr sz="2400"/>
      </a:lvl1pPr>
    </p:bodyStyle>
    <p:otherStyle>
      <a:lvl1pPr>
        <a:defRPr sz="1800"/>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nja 2"/>
          <p:cNvSpPr/>
          <p:nvPr/>
        </p:nvSpPr>
        <p:spPr>
          <a:xfrm>
            <a:off x="0" y="0"/>
            <a:ext cx="12192000" cy="6858000"/>
          </a:xfrm>
          <a:prstGeom prst="rect">
            <a:avLst/>
          </a:prstGeom>
          <a:solidFill>
            <a:srgbClr val="0F3D5E"/>
          </a:solidFill>
          <a:ln>
            <a:noFill/>
          </a:ln>
        </p:spPr>
      </p:sp>
      <p:sp>
        <p:nvSpPr>
          <p:cNvPr id="3" name="Franja 3"/>
          <p:cNvSpPr/>
          <p:nvPr/>
        </p:nvSpPr>
        <p:spPr>
          <a:xfrm>
            <a:off x="609600" y="3276600"/>
            <a:ext cx="1524000" cy="76200"/>
          </a:xfrm>
          <a:prstGeom prst="rect">
            <a:avLst/>
          </a:prstGeom>
          <a:solidFill>
            <a:srgbClr val="F59E0B"/>
          </a:solidFill>
          <a:ln>
            <a:noFill/>
          </a:ln>
        </p:spPr>
      </p:sp>
      <p:sp>
        <p:nvSpPr>
          <p:cNvPr id="7" name="Etiqueta"/>
          <p:cNvSpPr txBox="1"/>
          <p:nvPr/>
        </p:nvSpPr>
        <p:spPr>
          <a:xfrm>
            <a:off x="609600" y="609600"/>
            <a:ext cx="7315200" cy="533400"/>
          </a:xfrm>
          <a:prstGeom prst="rect">
            <a:avLst/>
          </a:prstGeom>
          <a:noFill/>
        </p:spPr>
        <p:txBody>
          <a:bodyPr wrap="square" lIns="0" rIns="0" anchor="b">
            <a:normAutofit/>
          </a:bodyPr>
          <a:lstStyle/>
          <a:p>
            <a:r>
              <a:rPr lang="es-CL" sz="1200" b="1" dirty="0">
                <a:solidFill>
                  <a:srgbClr val="9FC3E6"/>
                </a:solidFill>
              </a:rPr>
              <a:t>MÓDULO 2 · INTRODUCCIÓN A MODELOS GENERATIVOS Y CONSUMO POR API</a:t>
            </a:r>
          </a:p>
        </p:txBody>
      </p:sp>
      <p:sp>
        <p:nvSpPr>
          <p:cNvPr id="4" name="Título"/>
          <p:cNvSpPr txBox="1"/>
          <p:nvPr/>
        </p:nvSpPr>
        <p:spPr>
          <a:xfrm>
            <a:off x="609600" y="1219200"/>
            <a:ext cx="7315200" cy="1981200"/>
          </a:xfrm>
          <a:prstGeom prst="rect">
            <a:avLst/>
          </a:prstGeom>
          <a:noFill/>
        </p:spPr>
        <p:txBody>
          <a:bodyPr wrap="square" lIns="0" rIns="0" anchor="b">
            <a:normAutofit/>
          </a:bodyPr>
          <a:lstStyle/>
          <a:p>
            <a:r>
              <a:rPr lang="es-CL" sz="4000" b="1" dirty="0">
                <a:solidFill>
                  <a:srgbClr val="FFFFFF"/>
                </a:solidFill>
              </a:rPr>
              <a:t>Cápsula 3: Diseño de prompts</a:t>
            </a:r>
          </a:p>
        </p:txBody>
      </p:sp>
      <p:sp>
        <p:nvSpPr>
          <p:cNvPr id="5" name="Subtítulo"/>
          <p:cNvSpPr txBox="1"/>
          <p:nvPr/>
        </p:nvSpPr>
        <p:spPr>
          <a:xfrm>
            <a:off x="609600" y="3505200"/>
            <a:ext cx="7315200" cy="1828800"/>
          </a:xfrm>
          <a:prstGeom prst="rect">
            <a:avLst/>
          </a:prstGeom>
          <a:noFill/>
        </p:spPr>
        <p:txBody>
          <a:bodyPr wrap="square" lIns="0" rIns="0" anchor="t">
            <a:normAutofit/>
          </a:bodyPr>
          <a:lstStyle/>
          <a:p>
            <a:r>
              <a:rPr lang="es-CL" sz="2200" dirty="0">
                <a:solidFill>
                  <a:srgbClr val="E5E7EB"/>
                </a:solidFill>
              </a:rPr>
              <a:t>"El prompt es la especificación".</a:t>
            </a:r>
          </a:p>
          <a:p>
            <a:r>
              <a:rPr lang="es-CL" sz="2200" dirty="0">
                <a:solidFill>
                  <a:srgbClr val="E5E7EB"/>
                </a:solidFill>
              </a:rPr>
              <a:t>Contenido del plan: 3. DISEÑO DE PROMPTS PARA APIS GENERATIVAS</a:t>
            </a:r>
          </a:p>
        </p:txBody>
      </p:sp>
      <p:sp>
        <p:nvSpPr>
          <p:cNvPr id="6" name="Pie"/>
          <p:cNvSpPr txBox="1"/>
          <p:nvPr/>
        </p:nvSpPr>
        <p:spPr>
          <a:xfrm>
            <a:off x="609600" y="6248400"/>
            <a:ext cx="7315200" cy="381000"/>
          </a:xfrm>
          <a:prstGeom prst="rect">
            <a:avLst/>
          </a:prstGeom>
          <a:noFill/>
        </p:spPr>
        <p:txBody>
          <a:bodyPr wrap="square" lIns="0" rIns="0" anchor="t">
            <a:normAutofit/>
          </a:bodyPr>
          <a:lstStyle/>
          <a:p>
            <a:r>
              <a:rPr lang="es-CL" sz="1200" dirty="0">
                <a:solidFill>
                  <a:srgbClr val="CBD5E1"/>
                </a:solidFill>
              </a:rPr>
              <a:t>PF1822 · Módulo 2 · Cápsula 3 · Aprendizaje esperado 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nja 2"/>
          <p:cNvSpPr/>
          <p:nvPr/>
        </p:nvSpPr>
        <p:spPr>
          <a:xfrm>
            <a:off x="0" y="0"/>
            <a:ext cx="12192000" cy="152400"/>
          </a:xfrm>
          <a:prstGeom prst="rect">
            <a:avLst/>
          </a:prstGeom>
          <a:solidFill>
            <a:srgbClr val="0E7490"/>
          </a:solidFill>
          <a:ln>
            <a:noFill/>
          </a:ln>
        </p:spPr>
      </p:sp>
      <p:sp>
        <p:nvSpPr>
          <p:cNvPr id="7" name="Etiqueta"/>
          <p:cNvSpPr txBox="1"/>
          <p:nvPr/>
        </p:nvSpPr>
        <p:spPr>
          <a:xfrm>
            <a:off x="609600" y="228600"/>
            <a:ext cx="7315200" cy="914400"/>
          </a:xfrm>
          <a:prstGeom prst="rect">
            <a:avLst/>
          </a:prstGeom>
          <a:noFill/>
        </p:spPr>
        <p:txBody>
          <a:bodyPr wrap="square" lIns="0" rIns="0" anchor="b">
            <a:normAutofit/>
          </a:bodyPr>
          <a:lstStyle/>
          <a:p>
            <a:r>
              <a:rPr lang="es-CL" sz="1200" b="1" dirty="0">
                <a:solidFill>
                  <a:srgbClr val="0E7490"/>
                </a:solidFill>
              </a:rPr>
              <a:t>APRENDIZAJE Y CRITERIOS TEXTUALES DEL PLAN FORMATIVO</a:t>
            </a:r>
          </a:p>
        </p:txBody>
      </p:sp>
      <p:sp>
        <p:nvSpPr>
          <p:cNvPr id="3" name="Título"/>
          <p:cNvSpPr txBox="1"/>
          <p:nvPr/>
        </p:nvSpPr>
        <p:spPr>
          <a:xfrm>
            <a:off x="609600" y="1181100"/>
            <a:ext cx="7315200" cy="685800"/>
          </a:xfrm>
          <a:prstGeom prst="rect">
            <a:avLst/>
          </a:prstGeom>
          <a:noFill/>
        </p:spPr>
        <p:txBody>
          <a:bodyPr wrap="square" lIns="0" rIns="0" anchor="b">
            <a:normAutofit/>
          </a:bodyPr>
          <a:lstStyle/>
          <a:p>
            <a:r>
              <a:rPr lang="es-CL" sz="2800" b="1" dirty="0">
                <a:solidFill>
                  <a:srgbClr val="0F3D5E"/>
                </a:solidFill>
              </a:rPr>
              <a:t>Aprendizaje esperado 3</a:t>
            </a:r>
          </a:p>
        </p:txBody>
      </p:sp>
      <p:sp>
        <p:nvSpPr>
          <p:cNvPr id="4" name="Franja 4"/>
          <p:cNvSpPr/>
          <p:nvPr/>
        </p:nvSpPr>
        <p:spPr>
          <a:xfrm>
            <a:off x="609600" y="1943100"/>
            <a:ext cx="1066800" cy="50800"/>
          </a:xfrm>
          <a:prstGeom prst="rect">
            <a:avLst/>
          </a:prstGeom>
          <a:solidFill>
            <a:srgbClr val="F59E0B"/>
          </a:solidFill>
          <a:ln>
            <a:noFill/>
          </a:ln>
        </p:spPr>
      </p:sp>
      <p:sp>
        <p:nvSpPr>
          <p:cNvPr id="5" name="Contenido"/>
          <p:cNvSpPr txBox="1"/>
          <p:nvPr/>
        </p:nvSpPr>
        <p:spPr>
          <a:xfrm>
            <a:off x="609600" y="2095500"/>
            <a:ext cx="7315200" cy="4000500"/>
          </a:xfrm>
          <a:prstGeom prst="rect">
            <a:avLst/>
          </a:prstGeom>
          <a:noFill/>
        </p:spPr>
        <p:txBody>
          <a:bodyPr wrap="square" lIns="0" rIns="0" anchor="t">
            <a:normAutofit/>
          </a:bodyPr>
          <a:lstStyle/>
          <a:p>
            <a:pPr marL="342900" indent="-342900">
              <a:spcBef>
                <a:spcPts val="900"/>
              </a:spcBef>
              <a:buClr>
                <a:srgbClr val="0E7490"/>
              </a:buClr>
              <a:buFont typeface="Arial"/>
              <a:buChar char="•"/>
            </a:pPr>
            <a:r>
              <a:rPr lang="es-CL" sz="1300" b="1" dirty="0">
                <a:solidFill>
                  <a:srgbClr val="1F2937"/>
                </a:solidFill>
              </a:rPr>
              <a:t>FORMULAR PROMPTS EFECTIVOS PARA MODELOS GENERATIVOS EN ESCENARIOS ZERO-SHOT O FEW-SHOT, CONSIDERANDO LA TAREA SOLICITADA Y LOS PARÁMETROS DE GENERACIÓN DISPONIBLES.</a:t>
            </a:r>
          </a:p>
          <a:p>
            <a:pPr marL="0" indent="0">
              <a:spcBef>
                <a:spcPts val="1400"/>
              </a:spcBef>
              <a:buNone/>
            </a:pPr>
            <a:r>
              <a:rPr lang="es-CL" sz="1100" b="1" dirty="0">
                <a:solidFill>
                  <a:srgbClr val="0E7490"/>
                </a:solidFill>
              </a:rPr>
              <a:t>CRITERIOS DE EVALUACIÓN</a:t>
            </a:r>
          </a:p>
          <a:p>
            <a:pPr marL="342900" indent="-342900">
              <a:spcBef>
                <a:spcPts val="900"/>
              </a:spcBef>
              <a:buClr>
                <a:srgbClr val="0E7490"/>
              </a:buClr>
              <a:buFont typeface="Arial"/>
              <a:buChar char="•"/>
            </a:pPr>
            <a:r>
              <a:rPr lang="es-CL" sz="1300" dirty="0">
                <a:solidFill>
                  <a:srgbClr val="1F2937"/>
                </a:solidFill>
              </a:rPr>
              <a:t>3.1 EXPLICA LA FUNCIÓN DE UN PROMPT EN LA INTERACCIÓN CON MODELOS GENERATIVOS, DISTINGUIENDO ENTRE ESTRATEGIAS ZERO-SHOT Y FEW-SHOT, E IDENTIFICANDO SUS VENTAJAS Y LIMITACIONES BÁSICAS.</a:t>
            </a:r>
          </a:p>
          <a:p>
            <a:pPr marL="342900" indent="-342900">
              <a:spcBef>
                <a:spcPts val="900"/>
              </a:spcBef>
              <a:buClr>
                <a:srgbClr val="0E7490"/>
              </a:buClr>
              <a:buFont typeface="Arial"/>
              <a:buChar char="•"/>
            </a:pPr>
            <a:r>
              <a:rPr lang="es-CL" sz="1300" dirty="0">
                <a:solidFill>
                  <a:srgbClr val="1F2937"/>
                </a:solidFill>
              </a:rPr>
              <a:t>3.2 ELABORA PROMPTS ADECUADOS PARA TAREAS ESPECÍFICAS, COMO RESUMEN, GENERACIÓN DE CÓDIGO O REFORMULACIÓN DE TEXTO, SELECCIONANDO LA ESTRATEGIA DE PROMPTING MÁS APROPIADA SEGÚN EL OBJETIVO.</a:t>
            </a:r>
          </a:p>
          <a:p>
            <a:pPr marL="342900" indent="-342900">
              <a:spcBef>
                <a:spcPts val="900"/>
              </a:spcBef>
              <a:buClr>
                <a:srgbClr val="0E7490"/>
              </a:buClr>
              <a:buFont typeface="Arial"/>
              <a:buChar char="•"/>
            </a:pPr>
            <a:r>
              <a:rPr lang="es-CL" sz="1300" dirty="0">
                <a:solidFill>
                  <a:srgbClr val="1F2937"/>
                </a:solidFill>
              </a:rPr>
              <a:t>3.3 AJUSTA UN PROMPT DE FORMA ITERATIVA CON BASE EN LOS OUTPUTS OBTENIDOS, DESCRIBIENDO LOS CAMBIOS REALIZADOS EN TÉRMINOS DE CLARIDAD, ESTRUCTURA O CONTROL DEL COMPORTAMIENTO DEL MODELO.</a:t>
            </a:r>
          </a:p>
        </p:txBody>
      </p:sp>
      <p:sp>
        <p:nvSpPr>
          <p:cNvPr id="6" name="Pie"/>
          <p:cNvSpPr txBox="1"/>
          <p:nvPr/>
        </p:nvSpPr>
        <p:spPr>
          <a:xfrm>
            <a:off x="609600" y="6248400"/>
            <a:ext cx="7315200" cy="381000"/>
          </a:xfrm>
          <a:prstGeom prst="rect">
            <a:avLst/>
          </a:prstGeom>
          <a:noFill/>
        </p:spPr>
        <p:txBody>
          <a:bodyPr wrap="square" lIns="0" rIns="0" anchor="t">
            <a:normAutofit/>
          </a:bodyPr>
          <a:lstStyle/>
          <a:p>
            <a:r>
              <a:rPr lang="es-CL" sz="1200" dirty="0">
                <a:solidFill>
                  <a:srgbClr val="6B7280"/>
                </a:solidFill>
              </a:rPr>
              <a:t>PF1822 · Módulo 2 · Cápsula 3 · Aprendizaje esperado 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nja 2"/>
          <p:cNvSpPr/>
          <p:nvPr/>
        </p:nvSpPr>
        <p:spPr>
          <a:xfrm>
            <a:off x="0" y="0"/>
            <a:ext cx="12192000" cy="152400"/>
          </a:xfrm>
          <a:prstGeom prst="rect">
            <a:avLst/>
          </a:prstGeom>
          <a:solidFill>
            <a:srgbClr val="0E7490"/>
          </a:solidFill>
          <a:ln>
            <a:noFill/>
          </a:ln>
        </p:spPr>
      </p:sp>
      <p:sp>
        <p:nvSpPr>
          <p:cNvPr id="7" name="Etiqueta"/>
          <p:cNvSpPr txBox="1"/>
          <p:nvPr/>
        </p:nvSpPr>
        <p:spPr>
          <a:xfrm>
            <a:off x="609600" y="228600"/>
            <a:ext cx="7315200" cy="914400"/>
          </a:xfrm>
          <a:prstGeom prst="rect">
            <a:avLst/>
          </a:prstGeom>
          <a:noFill/>
        </p:spPr>
        <p:txBody>
          <a:bodyPr wrap="square" lIns="0" rIns="0" anchor="b">
            <a:normAutofit/>
          </a:bodyPr>
          <a:lstStyle/>
          <a:p>
            <a:r>
              <a:rPr lang="es-CL" sz="1200" b="1" dirty="0">
                <a:solidFill>
                  <a:srgbClr val="0E7490"/>
                </a:solidFill>
              </a:rPr>
              <a:t>CONTENIDO DEL PLAN (TEXTUAL)</a:t>
            </a:r>
          </a:p>
          <a:p>
            <a:r>
              <a:rPr lang="es-CL" sz="1200" b="1" dirty="0">
                <a:solidFill>
                  <a:srgbClr val="0F3D5E"/>
                </a:solidFill>
              </a:rPr>
              <a:t>QUÉ ES UN PROMPT.</a:t>
            </a:r>
          </a:p>
          <a:p>
            <a:r>
              <a:rPr lang="es-CL" sz="1200" b="1" dirty="0">
                <a:solidFill>
                  <a:srgbClr val="0F3D5E"/>
                </a:solidFill>
              </a:rPr>
              <a:t>ESTRUCTURA BÁSICA DE ENTRADA PARA MODELOS DE LENGUAJE.</a:t>
            </a:r>
          </a:p>
        </p:txBody>
      </p:sp>
      <p:sp>
        <p:nvSpPr>
          <p:cNvPr id="3" name="Título"/>
          <p:cNvSpPr txBox="1"/>
          <p:nvPr/>
        </p:nvSpPr>
        <p:spPr>
          <a:xfrm>
            <a:off x="609600" y="1181100"/>
            <a:ext cx="7315200" cy="685800"/>
          </a:xfrm>
          <a:prstGeom prst="rect">
            <a:avLst/>
          </a:prstGeom>
          <a:noFill/>
        </p:spPr>
        <p:txBody>
          <a:bodyPr wrap="square" lIns="0" rIns="0" anchor="b">
            <a:normAutofit/>
          </a:bodyPr>
          <a:lstStyle/>
          <a:p>
            <a:r>
              <a:rPr lang="es-CL" sz="2800" b="1" dirty="0">
                <a:solidFill>
                  <a:srgbClr val="0F3D5E"/>
                </a:solidFill>
              </a:rPr>
              <a:t>Qué es un prompt</a:t>
            </a:r>
          </a:p>
        </p:txBody>
      </p:sp>
      <p:sp>
        <p:nvSpPr>
          <p:cNvPr id="4" name="Franja 4"/>
          <p:cNvSpPr/>
          <p:nvPr/>
        </p:nvSpPr>
        <p:spPr>
          <a:xfrm>
            <a:off x="609600" y="1943100"/>
            <a:ext cx="1066800" cy="50800"/>
          </a:xfrm>
          <a:prstGeom prst="rect">
            <a:avLst/>
          </a:prstGeom>
          <a:solidFill>
            <a:srgbClr val="F59E0B"/>
          </a:solidFill>
          <a:ln>
            <a:noFill/>
          </a:ln>
        </p:spPr>
      </p:sp>
      <p:sp>
        <p:nvSpPr>
          <p:cNvPr id="5" name="Contenido"/>
          <p:cNvSpPr txBox="1"/>
          <p:nvPr/>
        </p:nvSpPr>
        <p:spPr>
          <a:xfrm>
            <a:off x="609600" y="2095500"/>
            <a:ext cx="7315200" cy="4000500"/>
          </a:xfrm>
          <a:prstGeom prst="rect">
            <a:avLst/>
          </a:prstGeom>
          <a:noFill/>
        </p:spPr>
        <p:txBody>
          <a:bodyPr wrap="square" lIns="0" rIns="0" anchor="t">
            <a:normAutofit/>
          </a:bodyPr>
          <a:lstStyle/>
          <a:p>
            <a:pPr marL="342900" indent="-342900">
              <a:spcBef>
                <a:spcPts val="900"/>
              </a:spcBef>
              <a:buClr>
                <a:srgbClr val="0E7490"/>
              </a:buClr>
              <a:buFont typeface="Arial"/>
              <a:buChar char="•"/>
            </a:pPr>
            <a:r>
              <a:rPr lang="es-CL" sz="2400" dirty="0">
                <a:solidFill>
                  <a:srgbClr val="1F2937"/>
                </a:solidFill>
              </a:rPr>
              <a:t>La entrada que le dice al modelo qué hacer.</a:t>
            </a:r>
          </a:p>
          <a:p>
            <a:pPr marL="342900" indent="-342900">
              <a:spcBef>
                <a:spcPts val="900"/>
              </a:spcBef>
              <a:buClr>
                <a:srgbClr val="0E7490"/>
              </a:buClr>
              <a:buFont typeface="Arial"/>
              <a:buChar char="•"/>
            </a:pPr>
            <a:r>
              <a:rPr lang="es-CL" sz="2400" dirty="0">
                <a:solidFill>
                  <a:srgbClr val="1F2937"/>
                </a:solidFill>
              </a:rPr>
              <a:t>Estructura: mensaje de </a:t>
            </a:r>
            <a:r>
              <a:rPr lang="es-CL" sz="2400" b="1" dirty="0">
                <a:solidFill>
                  <a:srgbClr val="1F2937"/>
                </a:solidFill>
              </a:rPr>
              <a:t>sistema</a:t>
            </a:r>
            <a:r>
              <a:rPr lang="es-CL" sz="2400" dirty="0">
                <a:solidFill>
                  <a:srgbClr val="1F2937"/>
                </a:solidFill>
              </a:rPr>
              <a:t> (rol y reglas) y mensaje de </a:t>
            </a:r>
            <a:r>
              <a:rPr lang="es-CL" sz="2400" b="1" dirty="0">
                <a:solidFill>
                  <a:srgbClr val="1F2937"/>
                </a:solidFill>
              </a:rPr>
              <a:t>usuario</a:t>
            </a:r>
            <a:r>
              <a:rPr lang="es-CL" sz="2400" dirty="0">
                <a:solidFill>
                  <a:srgbClr val="1F2937"/>
                </a:solidFill>
              </a:rPr>
              <a:t> (la tarea y los datos).</a:t>
            </a:r>
          </a:p>
        </p:txBody>
      </p:sp>
      <p:sp>
        <p:nvSpPr>
          <p:cNvPr id="6" name="Pie"/>
          <p:cNvSpPr txBox="1"/>
          <p:nvPr/>
        </p:nvSpPr>
        <p:spPr>
          <a:xfrm>
            <a:off x="609600" y="6248400"/>
            <a:ext cx="7315200" cy="381000"/>
          </a:xfrm>
          <a:prstGeom prst="rect">
            <a:avLst/>
          </a:prstGeom>
          <a:noFill/>
        </p:spPr>
        <p:txBody>
          <a:bodyPr wrap="square" lIns="0" rIns="0" anchor="t">
            <a:normAutofit/>
          </a:bodyPr>
          <a:lstStyle/>
          <a:p>
            <a:r>
              <a:rPr lang="es-CL" sz="1200" dirty="0">
                <a:solidFill>
                  <a:srgbClr val="6B7280"/>
                </a:solidFill>
              </a:rPr>
              <a:t>PF1822 · Módulo 2 · Cápsula 3 · Aprendizaje esperado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nja 2"/>
          <p:cNvSpPr/>
          <p:nvPr/>
        </p:nvSpPr>
        <p:spPr>
          <a:xfrm>
            <a:off x="0" y="0"/>
            <a:ext cx="12192000" cy="152400"/>
          </a:xfrm>
          <a:prstGeom prst="rect">
            <a:avLst/>
          </a:prstGeom>
          <a:solidFill>
            <a:srgbClr val="0E7490"/>
          </a:solidFill>
          <a:ln>
            <a:noFill/>
          </a:ln>
        </p:spPr>
      </p:sp>
      <p:sp>
        <p:nvSpPr>
          <p:cNvPr id="7" name="Etiqueta"/>
          <p:cNvSpPr txBox="1"/>
          <p:nvPr/>
        </p:nvSpPr>
        <p:spPr>
          <a:xfrm>
            <a:off x="609600" y="228600"/>
            <a:ext cx="7315200" cy="914400"/>
          </a:xfrm>
          <a:prstGeom prst="rect">
            <a:avLst/>
          </a:prstGeom>
          <a:noFill/>
        </p:spPr>
        <p:txBody>
          <a:bodyPr wrap="square" lIns="0" rIns="0" anchor="b">
            <a:normAutofit/>
          </a:bodyPr>
          <a:lstStyle/>
          <a:p>
            <a:r>
              <a:rPr lang="es-CL" sz="1200" b="1" dirty="0">
                <a:solidFill>
                  <a:srgbClr val="0E7490"/>
                </a:solidFill>
              </a:rPr>
              <a:t>CONTENIDO DEL PLAN (TEXTUAL)</a:t>
            </a:r>
          </a:p>
          <a:p>
            <a:r>
              <a:rPr lang="es-CL" sz="1200" b="1" dirty="0">
                <a:solidFill>
                  <a:srgbClr val="0F3D5E"/>
                </a:solidFill>
              </a:rPr>
              <a:t>TIPOS DE PROMPTING: ZERO-SHOT, FEW-SHOT E INSTRUCTIONAL PROMPTING.</a:t>
            </a:r>
          </a:p>
        </p:txBody>
      </p:sp>
      <p:sp>
        <p:nvSpPr>
          <p:cNvPr id="3" name="Título"/>
          <p:cNvSpPr txBox="1"/>
          <p:nvPr/>
        </p:nvSpPr>
        <p:spPr>
          <a:xfrm>
            <a:off x="609600" y="1181100"/>
            <a:ext cx="7315200" cy="685800"/>
          </a:xfrm>
          <a:prstGeom prst="rect">
            <a:avLst/>
          </a:prstGeom>
          <a:noFill/>
        </p:spPr>
        <p:txBody>
          <a:bodyPr wrap="square" lIns="0" rIns="0" anchor="b">
            <a:normAutofit/>
          </a:bodyPr>
          <a:lstStyle/>
          <a:p>
            <a:r>
              <a:rPr lang="es-CL" sz="2800" b="1" dirty="0">
                <a:solidFill>
                  <a:srgbClr val="0F3D5E"/>
                </a:solidFill>
              </a:rPr>
              <a:t>Tipos de prompting</a:t>
            </a:r>
          </a:p>
        </p:txBody>
      </p:sp>
      <p:sp>
        <p:nvSpPr>
          <p:cNvPr id="4" name="Franja 4"/>
          <p:cNvSpPr/>
          <p:nvPr/>
        </p:nvSpPr>
        <p:spPr>
          <a:xfrm>
            <a:off x="609600" y="1943100"/>
            <a:ext cx="1066800" cy="50800"/>
          </a:xfrm>
          <a:prstGeom prst="rect">
            <a:avLst/>
          </a:prstGeom>
          <a:solidFill>
            <a:srgbClr val="F59E0B"/>
          </a:solidFill>
          <a:ln>
            <a:noFill/>
          </a:ln>
        </p:spPr>
      </p:sp>
      <p:sp>
        <p:nvSpPr>
          <p:cNvPr id="5" name="Contenido"/>
          <p:cNvSpPr txBox="1"/>
          <p:nvPr/>
        </p:nvSpPr>
        <p:spPr>
          <a:xfrm>
            <a:off x="609600" y="2095500"/>
            <a:ext cx="7315200" cy="4000500"/>
          </a:xfrm>
          <a:prstGeom prst="rect">
            <a:avLst/>
          </a:prstGeom>
          <a:noFill/>
        </p:spPr>
        <p:txBody>
          <a:bodyPr wrap="square" lIns="0" rIns="0" anchor="t">
            <a:normAutofit/>
          </a:bodyPr>
          <a:lstStyle/>
          <a:p>
            <a:pPr marL="342900" indent="-342900">
              <a:spcBef>
                <a:spcPts val="900"/>
              </a:spcBef>
              <a:buClr>
                <a:srgbClr val="0E7490"/>
              </a:buClr>
              <a:buFont typeface="Arial"/>
              <a:buChar char="•"/>
            </a:pPr>
            <a:r>
              <a:rPr lang="es-CL" sz="2400" b="1" dirty="0">
                <a:solidFill>
                  <a:srgbClr val="1F2937"/>
                </a:solidFill>
              </a:rPr>
              <a:t>Zero-shot</a:t>
            </a:r>
            <a:r>
              <a:rPr lang="es-CL" sz="2400" dirty="0">
                <a:solidFill>
                  <a:srgbClr val="1F2937"/>
                </a:solidFill>
              </a:rPr>
              <a:t>: solo instrucciones.</a:t>
            </a:r>
          </a:p>
          <a:p>
            <a:pPr marL="342900" indent="-342900">
              <a:spcBef>
                <a:spcPts val="900"/>
              </a:spcBef>
              <a:buClr>
                <a:srgbClr val="0E7490"/>
              </a:buClr>
              <a:buFont typeface="Arial"/>
              <a:buChar char="•"/>
            </a:pPr>
            <a:r>
              <a:rPr lang="es-CL" sz="2400" b="1" dirty="0">
                <a:solidFill>
                  <a:srgbClr val="1F2937"/>
                </a:solidFill>
              </a:rPr>
              <a:t>Few-shot</a:t>
            </a:r>
            <a:r>
              <a:rPr lang="es-CL" sz="2400" dirty="0">
                <a:solidFill>
                  <a:srgbClr val="1F2937"/>
                </a:solidFill>
              </a:rPr>
              <a:t>: instrucciones más ejemplos de entrada y salida.</a:t>
            </a:r>
          </a:p>
          <a:p>
            <a:pPr marL="342900" indent="-342900">
              <a:spcBef>
                <a:spcPts val="900"/>
              </a:spcBef>
              <a:buClr>
                <a:srgbClr val="0E7490"/>
              </a:buClr>
              <a:buFont typeface="Arial"/>
              <a:buChar char="•"/>
            </a:pPr>
            <a:r>
              <a:rPr lang="es-CL" sz="2400" b="1" dirty="0">
                <a:solidFill>
                  <a:srgbClr val="1F2937"/>
                </a:solidFill>
              </a:rPr>
              <a:t>Instruccional</a:t>
            </a:r>
            <a:r>
              <a:rPr lang="es-CL" sz="2400" dirty="0">
                <a:solidFill>
                  <a:srgbClr val="1F2937"/>
                </a:solidFill>
              </a:rPr>
              <a:t>: pasos explícitos a seguir.</a:t>
            </a:r>
          </a:p>
        </p:txBody>
      </p:sp>
      <p:sp>
        <p:nvSpPr>
          <p:cNvPr id="6" name="Pie"/>
          <p:cNvSpPr txBox="1"/>
          <p:nvPr/>
        </p:nvSpPr>
        <p:spPr>
          <a:xfrm>
            <a:off x="609600" y="6248400"/>
            <a:ext cx="7315200" cy="381000"/>
          </a:xfrm>
          <a:prstGeom prst="rect">
            <a:avLst/>
          </a:prstGeom>
          <a:noFill/>
        </p:spPr>
        <p:txBody>
          <a:bodyPr wrap="square" lIns="0" rIns="0" anchor="t">
            <a:normAutofit/>
          </a:bodyPr>
          <a:lstStyle/>
          <a:p>
            <a:r>
              <a:rPr lang="es-CL" sz="1200" dirty="0">
                <a:solidFill>
                  <a:srgbClr val="6B7280"/>
                </a:solidFill>
              </a:rPr>
              <a:t>PF1822 · Módulo 2 · Cápsula 3 · Aprendizaje esperado 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nja 2"/>
          <p:cNvSpPr/>
          <p:nvPr/>
        </p:nvSpPr>
        <p:spPr>
          <a:xfrm>
            <a:off x="0" y="0"/>
            <a:ext cx="12192000" cy="152400"/>
          </a:xfrm>
          <a:prstGeom prst="rect">
            <a:avLst/>
          </a:prstGeom>
          <a:solidFill>
            <a:srgbClr val="0E7490"/>
          </a:solidFill>
          <a:ln>
            <a:noFill/>
          </a:ln>
        </p:spPr>
      </p:sp>
      <p:sp>
        <p:nvSpPr>
          <p:cNvPr id="7" name="Etiqueta"/>
          <p:cNvSpPr txBox="1"/>
          <p:nvPr/>
        </p:nvSpPr>
        <p:spPr>
          <a:xfrm>
            <a:off x="609600" y="228600"/>
            <a:ext cx="7315200" cy="914400"/>
          </a:xfrm>
          <a:prstGeom prst="rect">
            <a:avLst/>
          </a:prstGeom>
          <a:noFill/>
        </p:spPr>
        <p:txBody>
          <a:bodyPr wrap="square" lIns="0" rIns="0" anchor="b">
            <a:normAutofit/>
          </a:bodyPr>
          <a:lstStyle/>
          <a:p>
            <a:r>
              <a:rPr lang="es-CL" sz="1200" b="1" dirty="0">
                <a:solidFill>
                  <a:srgbClr val="0E7490"/>
                </a:solidFill>
              </a:rPr>
              <a:t>CONTENIDO DEL PLAN (TEXTUAL)</a:t>
            </a:r>
          </a:p>
          <a:p>
            <a:r>
              <a:rPr lang="es-CL" sz="1200" b="1" dirty="0">
                <a:solidFill>
                  <a:srgbClr val="0F3D5E"/>
                </a:solidFill>
              </a:rPr>
              <a:t>PRÁCTICAS RECOMENDADAS: CLARIDAD, DELIMITACIÓN DEL ROL, CONTEXTO, RESTRICCIONES Y EVITAR AMBIGÜEDAD.</a:t>
            </a:r>
          </a:p>
        </p:txBody>
      </p:sp>
      <p:sp>
        <p:nvSpPr>
          <p:cNvPr id="3" name="Título"/>
          <p:cNvSpPr txBox="1"/>
          <p:nvPr/>
        </p:nvSpPr>
        <p:spPr>
          <a:xfrm>
            <a:off x="609600" y="1181100"/>
            <a:ext cx="7315200" cy="685800"/>
          </a:xfrm>
          <a:prstGeom prst="rect">
            <a:avLst/>
          </a:prstGeom>
          <a:noFill/>
        </p:spPr>
        <p:txBody>
          <a:bodyPr wrap="square" lIns="0" rIns="0" anchor="b">
            <a:normAutofit/>
          </a:bodyPr>
          <a:lstStyle/>
          <a:p>
            <a:r>
              <a:rPr lang="es-CL" sz="2800" b="1" dirty="0">
                <a:solidFill>
                  <a:srgbClr val="0F3D5E"/>
                </a:solidFill>
              </a:rPr>
              <a:t>Buenas prácticas</a:t>
            </a:r>
          </a:p>
        </p:txBody>
      </p:sp>
      <p:sp>
        <p:nvSpPr>
          <p:cNvPr id="4" name="Franja 4"/>
          <p:cNvSpPr/>
          <p:nvPr/>
        </p:nvSpPr>
        <p:spPr>
          <a:xfrm>
            <a:off x="609600" y="1943100"/>
            <a:ext cx="1066800" cy="50800"/>
          </a:xfrm>
          <a:prstGeom prst="rect">
            <a:avLst/>
          </a:prstGeom>
          <a:solidFill>
            <a:srgbClr val="F59E0B"/>
          </a:solidFill>
          <a:ln>
            <a:noFill/>
          </a:ln>
        </p:spPr>
      </p:sp>
      <p:sp>
        <p:nvSpPr>
          <p:cNvPr id="5" name="Contenido"/>
          <p:cNvSpPr txBox="1"/>
          <p:nvPr/>
        </p:nvSpPr>
        <p:spPr>
          <a:xfrm>
            <a:off x="609600" y="2095500"/>
            <a:ext cx="7315200" cy="4000500"/>
          </a:xfrm>
          <a:prstGeom prst="rect">
            <a:avLst/>
          </a:prstGeom>
          <a:noFill/>
        </p:spPr>
        <p:txBody>
          <a:bodyPr wrap="square" lIns="0" rIns="0" anchor="t">
            <a:normAutofit/>
          </a:bodyPr>
          <a:lstStyle/>
          <a:p>
            <a:pPr marL="342900" indent="-342900">
              <a:spcBef>
                <a:spcPts val="900"/>
              </a:spcBef>
              <a:buClr>
                <a:srgbClr val="0E7490"/>
              </a:buClr>
              <a:buFont typeface="Arial"/>
              <a:buChar char="•"/>
            </a:pPr>
            <a:r>
              <a:rPr lang="es-CL" sz="2400" dirty="0">
                <a:solidFill>
                  <a:srgbClr val="1F2937"/>
                </a:solidFill>
              </a:rPr>
              <a:t>Claridad, rol definido, contexto suficiente, restricciones explícitas, evitar ambigüedad.</a:t>
            </a:r>
          </a:p>
        </p:txBody>
      </p:sp>
      <p:sp>
        <p:nvSpPr>
          <p:cNvPr id="6" name="Pie"/>
          <p:cNvSpPr txBox="1"/>
          <p:nvPr/>
        </p:nvSpPr>
        <p:spPr>
          <a:xfrm>
            <a:off x="609600" y="6248400"/>
            <a:ext cx="7315200" cy="381000"/>
          </a:xfrm>
          <a:prstGeom prst="rect">
            <a:avLst/>
          </a:prstGeom>
          <a:noFill/>
        </p:spPr>
        <p:txBody>
          <a:bodyPr wrap="square" lIns="0" rIns="0" anchor="t">
            <a:normAutofit/>
          </a:bodyPr>
          <a:lstStyle/>
          <a:p>
            <a:r>
              <a:rPr lang="es-CL" sz="1200" dirty="0">
                <a:solidFill>
                  <a:srgbClr val="6B7280"/>
                </a:solidFill>
              </a:rPr>
              <a:t>PF1822 · Módulo 2 · Cápsula 3 · Aprendizaje esperado 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nja 2"/>
          <p:cNvSpPr/>
          <p:nvPr/>
        </p:nvSpPr>
        <p:spPr>
          <a:xfrm>
            <a:off x="0" y="0"/>
            <a:ext cx="12192000" cy="152400"/>
          </a:xfrm>
          <a:prstGeom prst="rect">
            <a:avLst/>
          </a:prstGeom>
          <a:solidFill>
            <a:srgbClr val="0E7490"/>
          </a:solidFill>
          <a:ln>
            <a:noFill/>
          </a:ln>
        </p:spPr>
      </p:sp>
      <p:sp>
        <p:nvSpPr>
          <p:cNvPr id="7" name="Etiqueta"/>
          <p:cNvSpPr txBox="1"/>
          <p:nvPr/>
        </p:nvSpPr>
        <p:spPr>
          <a:xfrm>
            <a:off x="609600" y="228600"/>
            <a:ext cx="7315200" cy="914400"/>
          </a:xfrm>
          <a:prstGeom prst="rect">
            <a:avLst/>
          </a:prstGeom>
          <a:noFill/>
        </p:spPr>
        <p:txBody>
          <a:bodyPr wrap="square" lIns="0" rIns="0" anchor="b">
            <a:normAutofit/>
          </a:bodyPr>
          <a:lstStyle/>
          <a:p>
            <a:r>
              <a:rPr lang="es-CL" sz="1200" b="1" dirty="0">
                <a:solidFill>
                  <a:srgbClr val="0E7490"/>
                </a:solidFill>
              </a:rPr>
              <a:t>CONTENIDO DEL PLAN (TEXTUAL)</a:t>
            </a:r>
          </a:p>
          <a:p>
            <a:r>
              <a:rPr lang="es-CL" sz="1200" b="1" dirty="0">
                <a:solidFill>
                  <a:srgbClr val="0F3D5E"/>
                </a:solidFill>
              </a:rPr>
              <a:t>FORMATEO DE SALIDAS: LISTAS, JSON Y ESTRUCTURA TABULAR.</a:t>
            </a:r>
          </a:p>
        </p:txBody>
      </p:sp>
      <p:sp>
        <p:nvSpPr>
          <p:cNvPr id="3" name="Título"/>
          <p:cNvSpPr txBox="1"/>
          <p:nvPr/>
        </p:nvSpPr>
        <p:spPr>
          <a:xfrm>
            <a:off x="609600" y="1181100"/>
            <a:ext cx="7315200" cy="685800"/>
          </a:xfrm>
          <a:prstGeom prst="rect">
            <a:avLst/>
          </a:prstGeom>
          <a:noFill/>
        </p:spPr>
        <p:txBody>
          <a:bodyPr wrap="square" lIns="0" rIns="0" anchor="b">
            <a:normAutofit/>
          </a:bodyPr>
          <a:lstStyle/>
          <a:p>
            <a:r>
              <a:rPr lang="es-CL" sz="2800" b="1" dirty="0">
                <a:solidFill>
                  <a:srgbClr val="0F3D5E"/>
                </a:solidFill>
              </a:rPr>
              <a:t>Formato de salida</a:t>
            </a:r>
          </a:p>
        </p:txBody>
      </p:sp>
      <p:sp>
        <p:nvSpPr>
          <p:cNvPr id="4" name="Franja 4"/>
          <p:cNvSpPr/>
          <p:nvPr/>
        </p:nvSpPr>
        <p:spPr>
          <a:xfrm>
            <a:off x="609600" y="1943100"/>
            <a:ext cx="1066800" cy="50800"/>
          </a:xfrm>
          <a:prstGeom prst="rect">
            <a:avLst/>
          </a:prstGeom>
          <a:solidFill>
            <a:srgbClr val="F59E0B"/>
          </a:solidFill>
          <a:ln>
            <a:noFill/>
          </a:ln>
        </p:spPr>
      </p:sp>
      <p:sp>
        <p:nvSpPr>
          <p:cNvPr id="5" name="Contenido"/>
          <p:cNvSpPr txBox="1"/>
          <p:nvPr/>
        </p:nvSpPr>
        <p:spPr>
          <a:xfrm>
            <a:off x="609600" y="2095500"/>
            <a:ext cx="7315200" cy="4000500"/>
          </a:xfrm>
          <a:prstGeom prst="rect">
            <a:avLst/>
          </a:prstGeom>
          <a:noFill/>
        </p:spPr>
        <p:txBody>
          <a:bodyPr wrap="square" lIns="0" rIns="0" anchor="t">
            <a:normAutofit/>
          </a:bodyPr>
          <a:lstStyle/>
          <a:p>
            <a:pPr marL="342900" indent="-342900">
              <a:spcBef>
                <a:spcPts val="900"/>
              </a:spcBef>
              <a:buClr>
                <a:srgbClr val="0E7490"/>
              </a:buClr>
              <a:buFont typeface="Arial"/>
              <a:buChar char="•"/>
            </a:pPr>
            <a:r>
              <a:rPr lang="es-CL" sz="2400" dirty="0">
                <a:solidFill>
                  <a:srgbClr val="1F2937"/>
                </a:solidFill>
              </a:rPr>
              <a:t>Pedir listas, JSON o tablas cuando otro programa va a leer la respuesta.</a:t>
            </a:r>
          </a:p>
        </p:txBody>
      </p:sp>
      <p:sp>
        <p:nvSpPr>
          <p:cNvPr id="6" name="Pie"/>
          <p:cNvSpPr txBox="1"/>
          <p:nvPr/>
        </p:nvSpPr>
        <p:spPr>
          <a:xfrm>
            <a:off x="609600" y="6248400"/>
            <a:ext cx="7315200" cy="381000"/>
          </a:xfrm>
          <a:prstGeom prst="rect">
            <a:avLst/>
          </a:prstGeom>
          <a:noFill/>
        </p:spPr>
        <p:txBody>
          <a:bodyPr wrap="square" lIns="0" rIns="0" anchor="t">
            <a:normAutofit/>
          </a:bodyPr>
          <a:lstStyle/>
          <a:p>
            <a:r>
              <a:rPr lang="es-CL" sz="1200" dirty="0">
                <a:solidFill>
                  <a:srgbClr val="6B7280"/>
                </a:solidFill>
              </a:rPr>
              <a:t>PF1822 · Módulo 2 · Cápsula 3 · Aprendizaje esperado 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nja 2"/>
          <p:cNvSpPr/>
          <p:nvPr/>
        </p:nvSpPr>
        <p:spPr>
          <a:xfrm>
            <a:off x="0" y="0"/>
            <a:ext cx="12192000" cy="152400"/>
          </a:xfrm>
          <a:prstGeom prst="rect">
            <a:avLst/>
          </a:prstGeom>
          <a:solidFill>
            <a:srgbClr val="0E7490"/>
          </a:solidFill>
          <a:ln>
            <a:noFill/>
          </a:ln>
        </p:spPr>
      </p:sp>
      <p:sp>
        <p:nvSpPr>
          <p:cNvPr id="7" name="Etiqueta"/>
          <p:cNvSpPr txBox="1"/>
          <p:nvPr/>
        </p:nvSpPr>
        <p:spPr>
          <a:xfrm>
            <a:off x="609600" y="228600"/>
            <a:ext cx="7315200" cy="914400"/>
          </a:xfrm>
          <a:prstGeom prst="rect">
            <a:avLst/>
          </a:prstGeom>
          <a:noFill/>
        </p:spPr>
        <p:txBody>
          <a:bodyPr wrap="square" lIns="0" rIns="0" anchor="b">
            <a:normAutofit/>
          </a:bodyPr>
          <a:lstStyle/>
          <a:p>
            <a:r>
              <a:rPr lang="es-CL" sz="1200" b="1" dirty="0">
                <a:solidFill>
                  <a:srgbClr val="0E7490"/>
                </a:solidFill>
              </a:rPr>
              <a:t>CONTENIDO DEL PLAN (TEXTUAL)</a:t>
            </a:r>
          </a:p>
          <a:p>
            <a:r>
              <a:rPr lang="es-CL" sz="1200" b="1" dirty="0">
                <a:solidFill>
                  <a:srgbClr val="0F3D5E"/>
                </a:solidFill>
              </a:rPr>
              <a:t>EJEMPLOS PRÁCTICOS: PROMPT PARA GENERAR CÓDIGO, RESUMEN, VALIDACIÓN Y REFORMULACIÓN.</a:t>
            </a:r>
          </a:p>
        </p:txBody>
      </p:sp>
      <p:sp>
        <p:nvSpPr>
          <p:cNvPr id="3" name="Título"/>
          <p:cNvSpPr txBox="1"/>
          <p:nvPr/>
        </p:nvSpPr>
        <p:spPr>
          <a:xfrm>
            <a:off x="609600" y="1181100"/>
            <a:ext cx="7315200" cy="685800"/>
          </a:xfrm>
          <a:prstGeom prst="rect">
            <a:avLst/>
          </a:prstGeom>
          <a:noFill/>
        </p:spPr>
        <p:txBody>
          <a:bodyPr wrap="square" lIns="0" rIns="0" anchor="b">
            <a:normAutofit/>
          </a:bodyPr>
          <a:lstStyle/>
          <a:p>
            <a:r>
              <a:rPr lang="es-CL" sz="2800" b="1" dirty="0">
                <a:solidFill>
                  <a:srgbClr val="0F3D5E"/>
                </a:solidFill>
              </a:rPr>
              <a:t>Ejemplos prácticos</a:t>
            </a:r>
          </a:p>
        </p:txBody>
      </p:sp>
      <p:sp>
        <p:nvSpPr>
          <p:cNvPr id="4" name="Franja 4"/>
          <p:cNvSpPr/>
          <p:nvPr/>
        </p:nvSpPr>
        <p:spPr>
          <a:xfrm>
            <a:off x="609600" y="1943100"/>
            <a:ext cx="1066800" cy="50800"/>
          </a:xfrm>
          <a:prstGeom prst="rect">
            <a:avLst/>
          </a:prstGeom>
          <a:solidFill>
            <a:srgbClr val="F59E0B"/>
          </a:solidFill>
          <a:ln>
            <a:noFill/>
          </a:ln>
        </p:spPr>
      </p:sp>
      <p:sp>
        <p:nvSpPr>
          <p:cNvPr id="5" name="Contenido"/>
          <p:cNvSpPr txBox="1"/>
          <p:nvPr/>
        </p:nvSpPr>
        <p:spPr>
          <a:xfrm>
            <a:off x="609600" y="2095500"/>
            <a:ext cx="7315200" cy="4000500"/>
          </a:xfrm>
          <a:prstGeom prst="rect">
            <a:avLst/>
          </a:prstGeom>
          <a:noFill/>
        </p:spPr>
        <p:txBody>
          <a:bodyPr wrap="square" lIns="0" rIns="0" anchor="t">
            <a:normAutofit/>
          </a:bodyPr>
          <a:lstStyle/>
          <a:p>
            <a:pPr marL="342900" indent="-342900">
              <a:spcBef>
                <a:spcPts val="900"/>
              </a:spcBef>
              <a:buClr>
                <a:srgbClr val="0E7490"/>
              </a:buClr>
              <a:buFont typeface="Arial"/>
              <a:buChar char="•"/>
            </a:pPr>
            <a:r>
              <a:rPr lang="es-CL" sz="2400" dirty="0">
                <a:solidFill>
                  <a:srgbClr val="1F2937"/>
                </a:solidFill>
              </a:rPr>
              <a:t>Un prompt para generar código, uno para resumir, uno para validar y uno para reformular, con su salida.</a:t>
            </a:r>
          </a:p>
        </p:txBody>
      </p:sp>
      <p:sp>
        <p:nvSpPr>
          <p:cNvPr id="6" name="Pie"/>
          <p:cNvSpPr txBox="1"/>
          <p:nvPr/>
        </p:nvSpPr>
        <p:spPr>
          <a:xfrm>
            <a:off x="609600" y="6248400"/>
            <a:ext cx="7315200" cy="381000"/>
          </a:xfrm>
          <a:prstGeom prst="rect">
            <a:avLst/>
          </a:prstGeom>
          <a:noFill/>
        </p:spPr>
        <p:txBody>
          <a:bodyPr wrap="square" lIns="0" rIns="0" anchor="t">
            <a:normAutofit/>
          </a:bodyPr>
          <a:lstStyle/>
          <a:p>
            <a:r>
              <a:rPr lang="es-CL" sz="1200" dirty="0">
                <a:solidFill>
                  <a:srgbClr val="6B7280"/>
                </a:solidFill>
              </a:rPr>
              <a:t>PF1822 · Módulo 2 · Cápsula 3 · Aprendizaje esperado 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nja 2"/>
          <p:cNvSpPr/>
          <p:nvPr/>
        </p:nvSpPr>
        <p:spPr>
          <a:xfrm>
            <a:off x="0" y="0"/>
            <a:ext cx="12192000" cy="152400"/>
          </a:xfrm>
          <a:prstGeom prst="rect">
            <a:avLst/>
          </a:prstGeom>
          <a:solidFill>
            <a:srgbClr val="0E7490"/>
          </a:solidFill>
          <a:ln>
            <a:noFill/>
          </a:ln>
        </p:spPr>
      </p:sp>
      <p:sp>
        <p:nvSpPr>
          <p:cNvPr id="7" name="Etiqueta"/>
          <p:cNvSpPr txBox="1"/>
          <p:nvPr/>
        </p:nvSpPr>
        <p:spPr>
          <a:xfrm>
            <a:off x="609600" y="228600"/>
            <a:ext cx="7315200" cy="914400"/>
          </a:xfrm>
          <a:prstGeom prst="rect">
            <a:avLst/>
          </a:prstGeom>
          <a:noFill/>
        </p:spPr>
        <p:txBody>
          <a:bodyPr wrap="square" lIns="0" rIns="0" anchor="b">
            <a:normAutofit/>
          </a:bodyPr>
          <a:lstStyle/>
          <a:p>
            <a:r>
              <a:rPr lang="es-CL" sz="1200" b="1" dirty="0">
                <a:solidFill>
                  <a:srgbClr val="0E7490"/>
                </a:solidFill>
              </a:rPr>
              <a:t>CONTENIDO DEL PLAN (TEXTUAL)</a:t>
            </a:r>
          </a:p>
          <a:p>
            <a:r>
              <a:rPr lang="es-CL" sz="1200" b="1" dirty="0">
                <a:solidFill>
                  <a:srgbClr val="0F3D5E"/>
                </a:solidFill>
              </a:rPr>
              <a:t>PROMPT Y PARÁMETROS: CÓMO INFLUYEN TEMPERATURE, MAX_TOKENS Y TOP_P.</a:t>
            </a:r>
          </a:p>
        </p:txBody>
      </p:sp>
      <p:sp>
        <p:nvSpPr>
          <p:cNvPr id="3" name="Título"/>
          <p:cNvSpPr txBox="1"/>
          <p:nvPr/>
        </p:nvSpPr>
        <p:spPr>
          <a:xfrm>
            <a:off x="609600" y="1181100"/>
            <a:ext cx="7315200" cy="685800"/>
          </a:xfrm>
          <a:prstGeom prst="rect">
            <a:avLst/>
          </a:prstGeom>
          <a:noFill/>
        </p:spPr>
        <p:txBody>
          <a:bodyPr wrap="square" lIns="0" rIns="0" anchor="b">
            <a:normAutofit/>
          </a:bodyPr>
          <a:lstStyle/>
          <a:p>
            <a:r>
              <a:rPr lang="es-CL" sz="2800" b="1" dirty="0">
                <a:solidFill>
                  <a:srgbClr val="0F3D5E"/>
                </a:solidFill>
              </a:rPr>
              <a:t>Parámetros</a:t>
            </a:r>
          </a:p>
        </p:txBody>
      </p:sp>
      <p:sp>
        <p:nvSpPr>
          <p:cNvPr id="4" name="Franja 4"/>
          <p:cNvSpPr/>
          <p:nvPr/>
        </p:nvSpPr>
        <p:spPr>
          <a:xfrm>
            <a:off x="609600" y="1943100"/>
            <a:ext cx="1066800" cy="50800"/>
          </a:xfrm>
          <a:prstGeom prst="rect">
            <a:avLst/>
          </a:prstGeom>
          <a:solidFill>
            <a:srgbClr val="F59E0B"/>
          </a:solidFill>
          <a:ln>
            <a:noFill/>
          </a:ln>
        </p:spPr>
      </p:sp>
      <p:sp>
        <p:nvSpPr>
          <p:cNvPr id="5" name="Contenido"/>
          <p:cNvSpPr txBox="1"/>
          <p:nvPr/>
        </p:nvSpPr>
        <p:spPr>
          <a:xfrm>
            <a:off x="609600" y="2095500"/>
            <a:ext cx="7315200" cy="4000500"/>
          </a:xfrm>
          <a:prstGeom prst="rect">
            <a:avLst/>
          </a:prstGeom>
          <a:noFill/>
        </p:spPr>
        <p:txBody>
          <a:bodyPr wrap="square" lIns="0" rIns="0" anchor="t">
            <a:normAutofit/>
          </a:bodyPr>
          <a:lstStyle/>
          <a:p>
            <a:pPr marL="342900" indent="-342900">
              <a:spcBef>
                <a:spcPts val="900"/>
              </a:spcBef>
              <a:buClr>
                <a:srgbClr val="0E7490"/>
              </a:buClr>
              <a:buFont typeface="Arial"/>
              <a:buChar char="•"/>
            </a:pPr>
            <a:r>
              <a:rPr lang="es-CL" sz="2400" b="1" dirty="0">
                <a:solidFill>
                  <a:srgbClr val="1F2937"/>
                </a:solidFill>
              </a:rPr>
              <a:t>temperature</a:t>
            </a:r>
            <a:r>
              <a:rPr lang="es-CL" sz="2400" dirty="0">
                <a:solidFill>
                  <a:srgbClr val="1F2937"/>
                </a:solidFill>
              </a:rPr>
              <a:t> (variedad), </a:t>
            </a:r>
            <a:r>
              <a:rPr lang="es-CL" sz="2400" b="1" dirty="0">
                <a:solidFill>
                  <a:srgbClr val="1F2937"/>
                </a:solidFill>
              </a:rPr>
              <a:t>max_tokens</a:t>
            </a:r>
            <a:r>
              <a:rPr lang="es-CL" sz="2400" dirty="0">
                <a:solidFill>
                  <a:srgbClr val="1F2937"/>
                </a:solidFill>
              </a:rPr>
              <a:t> (largo máximo), </a:t>
            </a:r>
            <a:r>
              <a:rPr lang="es-CL" sz="2400" b="1" dirty="0">
                <a:solidFill>
                  <a:srgbClr val="1F2937"/>
                </a:solidFill>
              </a:rPr>
              <a:t>top_p</a:t>
            </a:r>
            <a:r>
              <a:rPr lang="es-CL" sz="2400" dirty="0">
                <a:solidFill>
                  <a:srgbClr val="1F2937"/>
                </a:solidFill>
              </a:rPr>
              <a:t> (acota las opciones).</a:t>
            </a:r>
          </a:p>
          <a:p>
            <a:pPr marL="342900" indent="-342900">
              <a:spcBef>
                <a:spcPts val="900"/>
              </a:spcBef>
              <a:buClr>
                <a:srgbClr val="0E7490"/>
              </a:buClr>
              <a:buFont typeface="Arial"/>
              <a:buChar char="•"/>
            </a:pPr>
            <a:r>
              <a:rPr lang="es-CL" sz="2400" dirty="0">
                <a:solidFill>
                  <a:srgbClr val="1F2937"/>
                </a:solidFill>
              </a:rPr>
              <a:t>Para resúmenes, temperature baja.</a:t>
            </a:r>
          </a:p>
        </p:txBody>
      </p:sp>
      <p:sp>
        <p:nvSpPr>
          <p:cNvPr id="6" name="Pie"/>
          <p:cNvSpPr txBox="1"/>
          <p:nvPr/>
        </p:nvSpPr>
        <p:spPr>
          <a:xfrm>
            <a:off x="609600" y="6248400"/>
            <a:ext cx="7315200" cy="381000"/>
          </a:xfrm>
          <a:prstGeom prst="rect">
            <a:avLst/>
          </a:prstGeom>
          <a:noFill/>
        </p:spPr>
        <p:txBody>
          <a:bodyPr wrap="square" lIns="0" rIns="0" anchor="t">
            <a:normAutofit/>
          </a:bodyPr>
          <a:lstStyle/>
          <a:p>
            <a:r>
              <a:rPr lang="es-CL" sz="1200" dirty="0">
                <a:solidFill>
                  <a:srgbClr val="6B7280"/>
                </a:solidFill>
              </a:rPr>
              <a:t>PF1822 · Módulo 2 · Cápsula 3 · Aprendizaje esperado 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nja 2"/>
          <p:cNvSpPr/>
          <p:nvPr/>
        </p:nvSpPr>
        <p:spPr>
          <a:xfrm>
            <a:off x="0" y="0"/>
            <a:ext cx="12192000" cy="152400"/>
          </a:xfrm>
          <a:prstGeom prst="rect">
            <a:avLst/>
          </a:prstGeom>
          <a:solidFill>
            <a:srgbClr val="0E7490"/>
          </a:solidFill>
          <a:ln>
            <a:noFill/>
          </a:ln>
        </p:spPr>
      </p:sp>
      <p:sp>
        <p:nvSpPr>
          <p:cNvPr id="7" name="Etiqueta"/>
          <p:cNvSpPr txBox="1"/>
          <p:nvPr/>
        </p:nvSpPr>
        <p:spPr>
          <a:xfrm>
            <a:off x="609600" y="228600"/>
            <a:ext cx="7315200" cy="914400"/>
          </a:xfrm>
          <a:prstGeom prst="rect">
            <a:avLst/>
          </a:prstGeom>
          <a:noFill/>
        </p:spPr>
        <p:txBody>
          <a:bodyPr wrap="square" lIns="0" rIns="0" anchor="b">
            <a:normAutofit/>
          </a:bodyPr>
          <a:lstStyle/>
          <a:p>
            <a:r>
              <a:rPr lang="es-CL" sz="1200" b="1" dirty="0">
                <a:solidFill>
                  <a:srgbClr val="0E7490"/>
                </a:solidFill>
              </a:rPr>
              <a:t>CONTENIDO DEL PLAN (TEXTUAL)</a:t>
            </a:r>
          </a:p>
          <a:p>
            <a:r>
              <a:rPr lang="es-CL" sz="1200" b="1" dirty="0">
                <a:solidFill>
                  <a:srgbClr val="0F3D5E"/>
                </a:solidFill>
              </a:rPr>
              <a:t>LIMITACIONES: ALUCINACIONES, FALTA DE CONTROL Y SENSIBILIDAD AL WORDING.</a:t>
            </a:r>
          </a:p>
        </p:txBody>
      </p:sp>
      <p:sp>
        <p:nvSpPr>
          <p:cNvPr id="3" name="Título"/>
          <p:cNvSpPr txBox="1"/>
          <p:nvPr/>
        </p:nvSpPr>
        <p:spPr>
          <a:xfrm>
            <a:off x="609600" y="1181100"/>
            <a:ext cx="7315200" cy="685800"/>
          </a:xfrm>
          <a:prstGeom prst="rect">
            <a:avLst/>
          </a:prstGeom>
          <a:noFill/>
        </p:spPr>
        <p:txBody>
          <a:bodyPr wrap="square" lIns="0" rIns="0" anchor="b">
            <a:normAutofit/>
          </a:bodyPr>
          <a:lstStyle/>
          <a:p>
            <a:r>
              <a:rPr lang="es-CL" sz="2800" b="1" dirty="0">
                <a:solidFill>
                  <a:srgbClr val="0F3D5E"/>
                </a:solidFill>
              </a:rPr>
              <a:t>Limitaciones</a:t>
            </a:r>
          </a:p>
        </p:txBody>
      </p:sp>
      <p:sp>
        <p:nvSpPr>
          <p:cNvPr id="4" name="Franja 4"/>
          <p:cNvSpPr/>
          <p:nvPr/>
        </p:nvSpPr>
        <p:spPr>
          <a:xfrm>
            <a:off x="609600" y="1943100"/>
            <a:ext cx="1066800" cy="50800"/>
          </a:xfrm>
          <a:prstGeom prst="rect">
            <a:avLst/>
          </a:prstGeom>
          <a:solidFill>
            <a:srgbClr val="F59E0B"/>
          </a:solidFill>
          <a:ln>
            <a:noFill/>
          </a:ln>
        </p:spPr>
      </p:sp>
      <p:sp>
        <p:nvSpPr>
          <p:cNvPr id="5" name="Contenido"/>
          <p:cNvSpPr txBox="1"/>
          <p:nvPr/>
        </p:nvSpPr>
        <p:spPr>
          <a:xfrm>
            <a:off x="609600" y="2095500"/>
            <a:ext cx="7315200" cy="4000500"/>
          </a:xfrm>
          <a:prstGeom prst="rect">
            <a:avLst/>
          </a:prstGeom>
          <a:noFill/>
        </p:spPr>
        <p:txBody>
          <a:bodyPr wrap="square" lIns="0" rIns="0" anchor="t">
            <a:normAutofit/>
          </a:bodyPr>
          <a:lstStyle/>
          <a:p>
            <a:pPr marL="342900" indent="-342900">
              <a:spcBef>
                <a:spcPts val="900"/>
              </a:spcBef>
              <a:buClr>
                <a:srgbClr val="0E7490"/>
              </a:buClr>
              <a:buFont typeface="Arial"/>
              <a:buChar char="•"/>
            </a:pPr>
            <a:r>
              <a:rPr lang="es-CL" sz="2400" dirty="0">
                <a:solidFill>
                  <a:srgbClr val="1F2937"/>
                </a:solidFill>
              </a:rPr>
              <a:t>Alucinaciones, falta de control, sensibilidad a la redacción: un cambio pequeño de palabras cambia la respuesta.</a:t>
            </a:r>
          </a:p>
        </p:txBody>
      </p:sp>
      <p:sp>
        <p:nvSpPr>
          <p:cNvPr id="6" name="Pie"/>
          <p:cNvSpPr txBox="1"/>
          <p:nvPr/>
        </p:nvSpPr>
        <p:spPr>
          <a:xfrm>
            <a:off x="609600" y="6248400"/>
            <a:ext cx="7315200" cy="381000"/>
          </a:xfrm>
          <a:prstGeom prst="rect">
            <a:avLst/>
          </a:prstGeom>
          <a:noFill/>
        </p:spPr>
        <p:txBody>
          <a:bodyPr wrap="square" lIns="0" rIns="0" anchor="t">
            <a:normAutofit/>
          </a:bodyPr>
          <a:lstStyle/>
          <a:p>
            <a:r>
              <a:rPr lang="es-CL" sz="1200" dirty="0">
                <a:solidFill>
                  <a:srgbClr val="6B7280"/>
                </a:solidFill>
              </a:rPr>
              <a:t>PF1822 · Módulo 2 · Cápsula 3 · Aprendizaje esperado 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nja 2"/>
          <p:cNvSpPr/>
          <p:nvPr/>
        </p:nvSpPr>
        <p:spPr>
          <a:xfrm>
            <a:off x="0" y="0"/>
            <a:ext cx="12192000" cy="152400"/>
          </a:xfrm>
          <a:prstGeom prst="rect">
            <a:avLst/>
          </a:prstGeom>
          <a:solidFill>
            <a:srgbClr val="0E7490"/>
          </a:solidFill>
          <a:ln>
            <a:noFill/>
          </a:ln>
        </p:spPr>
      </p:sp>
      <p:sp>
        <p:nvSpPr>
          <p:cNvPr id="7" name="Etiqueta"/>
          <p:cNvSpPr txBox="1"/>
          <p:nvPr/>
        </p:nvSpPr>
        <p:spPr>
          <a:xfrm>
            <a:off x="609600" y="228600"/>
            <a:ext cx="7315200" cy="914400"/>
          </a:xfrm>
          <a:prstGeom prst="rect">
            <a:avLst/>
          </a:prstGeom>
          <a:noFill/>
        </p:spPr>
        <p:txBody>
          <a:bodyPr wrap="square" lIns="0" rIns="0" anchor="b">
            <a:normAutofit/>
          </a:bodyPr>
          <a:lstStyle/>
          <a:p>
            <a:r>
              <a:rPr lang="es-CL" sz="1200" b="1" dirty="0">
                <a:solidFill>
                  <a:srgbClr val="0E7490"/>
                </a:solidFill>
              </a:rPr>
              <a:t>CONTENIDO DEL PLAN (TEXTUAL)</a:t>
            </a:r>
          </a:p>
          <a:p>
            <a:r>
              <a:rPr lang="es-CL" sz="1200" b="1" dirty="0">
                <a:solidFill>
                  <a:srgbClr val="0F3D5E"/>
                </a:solidFill>
              </a:rPr>
              <a:t>ITERACIÓN Y AJUSTE DE PROMPTS SEGÚN RESULTADOS OBTENIDOS.</a:t>
            </a:r>
          </a:p>
        </p:txBody>
      </p:sp>
      <p:sp>
        <p:nvSpPr>
          <p:cNvPr id="3" name="Título"/>
          <p:cNvSpPr txBox="1"/>
          <p:nvPr/>
        </p:nvSpPr>
        <p:spPr>
          <a:xfrm>
            <a:off x="609600" y="1181100"/>
            <a:ext cx="7315200" cy="685800"/>
          </a:xfrm>
          <a:prstGeom prst="rect">
            <a:avLst/>
          </a:prstGeom>
          <a:noFill/>
        </p:spPr>
        <p:txBody>
          <a:bodyPr wrap="square" lIns="0" rIns="0" anchor="b">
            <a:normAutofit/>
          </a:bodyPr>
          <a:lstStyle/>
          <a:p>
            <a:r>
              <a:rPr lang="es-CL" sz="2800" b="1" dirty="0">
                <a:solidFill>
                  <a:srgbClr val="0F3D5E"/>
                </a:solidFill>
              </a:rPr>
              <a:t>Iterar</a:t>
            </a:r>
          </a:p>
        </p:txBody>
      </p:sp>
      <p:sp>
        <p:nvSpPr>
          <p:cNvPr id="4" name="Franja 4"/>
          <p:cNvSpPr/>
          <p:nvPr/>
        </p:nvSpPr>
        <p:spPr>
          <a:xfrm>
            <a:off x="609600" y="1943100"/>
            <a:ext cx="1066800" cy="50800"/>
          </a:xfrm>
          <a:prstGeom prst="rect">
            <a:avLst/>
          </a:prstGeom>
          <a:solidFill>
            <a:srgbClr val="F59E0B"/>
          </a:solidFill>
          <a:ln>
            <a:noFill/>
          </a:ln>
        </p:spPr>
      </p:sp>
      <p:sp>
        <p:nvSpPr>
          <p:cNvPr id="5" name="Contenido"/>
          <p:cNvSpPr txBox="1"/>
          <p:nvPr/>
        </p:nvSpPr>
        <p:spPr>
          <a:xfrm>
            <a:off x="609600" y="2095500"/>
            <a:ext cx="7315200" cy="4000500"/>
          </a:xfrm>
          <a:prstGeom prst="rect">
            <a:avLst/>
          </a:prstGeom>
          <a:noFill/>
        </p:spPr>
        <p:txBody>
          <a:bodyPr wrap="square" lIns="0" rIns="0" anchor="t">
            <a:normAutofit/>
          </a:bodyPr>
          <a:lstStyle/>
          <a:p>
            <a:pPr marL="342900" indent="-342900">
              <a:spcBef>
                <a:spcPts val="900"/>
              </a:spcBef>
              <a:buClr>
                <a:srgbClr val="0E7490"/>
              </a:buClr>
              <a:buFont typeface="Arial"/>
              <a:buChar char="•"/>
            </a:pPr>
            <a:r>
              <a:rPr lang="es-CL" sz="2400" dirty="0">
                <a:solidFill>
                  <a:srgbClr val="1F2937"/>
                </a:solidFill>
              </a:rPr>
              <a:t>Cambiar una cosa a la vez, anotar qué cambió y qué efecto tuvo, y decidir con los resultados.</a:t>
            </a:r>
          </a:p>
        </p:txBody>
      </p:sp>
      <p:sp>
        <p:nvSpPr>
          <p:cNvPr id="6" name="Pie"/>
          <p:cNvSpPr txBox="1"/>
          <p:nvPr/>
        </p:nvSpPr>
        <p:spPr>
          <a:xfrm>
            <a:off x="609600" y="6248400"/>
            <a:ext cx="7315200" cy="381000"/>
          </a:xfrm>
          <a:prstGeom prst="rect">
            <a:avLst/>
          </a:prstGeom>
          <a:noFill/>
        </p:spPr>
        <p:txBody>
          <a:bodyPr wrap="square" lIns="0" rIns="0" anchor="t">
            <a:normAutofit/>
          </a:bodyPr>
          <a:lstStyle/>
          <a:p>
            <a:r>
              <a:rPr lang="es-CL" sz="1200" dirty="0">
                <a:solidFill>
                  <a:srgbClr val="6B7280"/>
                </a:solidFill>
              </a:rPr>
              <a:t>PF1822 · Módulo 2 · Cápsula 3 · Aprendizaje esperado 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nja 2"/>
          <p:cNvSpPr/>
          <p:nvPr/>
        </p:nvSpPr>
        <p:spPr>
          <a:xfrm>
            <a:off x="0" y="0"/>
            <a:ext cx="12192000" cy="152400"/>
          </a:xfrm>
          <a:prstGeom prst="rect">
            <a:avLst/>
          </a:prstGeom>
          <a:solidFill>
            <a:srgbClr val="0E7490"/>
          </a:solidFill>
          <a:ln>
            <a:noFill/>
          </a:ln>
        </p:spPr>
      </p:sp>
      <p:sp>
        <p:nvSpPr>
          <p:cNvPr id="7" name="Etiqueta"/>
          <p:cNvSpPr txBox="1"/>
          <p:nvPr/>
        </p:nvSpPr>
        <p:spPr>
          <a:xfrm>
            <a:off x="609600" y="228600"/>
            <a:ext cx="7315200" cy="914400"/>
          </a:xfrm>
          <a:prstGeom prst="rect">
            <a:avLst/>
          </a:prstGeom>
          <a:noFill/>
        </p:spPr>
        <p:txBody>
          <a:bodyPr wrap="square" lIns="0" rIns="0" anchor="b">
            <a:normAutofit/>
          </a:bodyPr>
          <a:lstStyle/>
          <a:p>
            <a:r>
              <a:rPr lang="es-CL" sz="1200" b="1" dirty="0">
                <a:solidFill>
                  <a:srgbClr val="0E7490"/>
                </a:solidFill>
              </a:rPr>
              <a:t>PRÁCTICA DEL APRENDIZAJE ESPERADO 3</a:t>
            </a:r>
          </a:p>
        </p:txBody>
      </p:sp>
      <p:sp>
        <p:nvSpPr>
          <p:cNvPr id="3" name="Título"/>
          <p:cNvSpPr txBox="1"/>
          <p:nvPr/>
        </p:nvSpPr>
        <p:spPr>
          <a:xfrm>
            <a:off x="609600" y="1181100"/>
            <a:ext cx="7315200" cy="685800"/>
          </a:xfrm>
          <a:prstGeom prst="rect">
            <a:avLst/>
          </a:prstGeom>
          <a:noFill/>
        </p:spPr>
        <p:txBody>
          <a:bodyPr wrap="square" lIns="0" rIns="0" anchor="b">
            <a:normAutofit/>
          </a:bodyPr>
          <a:lstStyle/>
          <a:p>
            <a:r>
              <a:rPr lang="es-CL" sz="2800" b="1" dirty="0">
                <a:solidFill>
                  <a:srgbClr val="0F3D5E"/>
                </a:solidFill>
              </a:rPr>
              <a:t>Tu tarea</a:t>
            </a:r>
          </a:p>
        </p:txBody>
      </p:sp>
      <p:sp>
        <p:nvSpPr>
          <p:cNvPr id="4" name="Franja 4"/>
          <p:cNvSpPr/>
          <p:nvPr/>
        </p:nvSpPr>
        <p:spPr>
          <a:xfrm>
            <a:off x="609600" y="1943100"/>
            <a:ext cx="1066800" cy="50800"/>
          </a:xfrm>
          <a:prstGeom prst="rect">
            <a:avLst/>
          </a:prstGeom>
          <a:solidFill>
            <a:srgbClr val="F59E0B"/>
          </a:solidFill>
          <a:ln>
            <a:noFill/>
          </a:ln>
        </p:spPr>
      </p:sp>
      <p:sp>
        <p:nvSpPr>
          <p:cNvPr id="5" name="Contenido"/>
          <p:cNvSpPr txBox="1"/>
          <p:nvPr/>
        </p:nvSpPr>
        <p:spPr>
          <a:xfrm>
            <a:off x="609600" y="2095500"/>
            <a:ext cx="7315200" cy="4000500"/>
          </a:xfrm>
          <a:prstGeom prst="rect">
            <a:avLst/>
          </a:prstGeom>
          <a:noFill/>
        </p:spPr>
        <p:txBody>
          <a:bodyPr wrap="square" lIns="0" rIns="0" anchor="t">
            <a:normAutofit/>
          </a:bodyPr>
          <a:lstStyle/>
          <a:p>
            <a:pPr marL="342900" indent="-342900">
              <a:spcBef>
                <a:spcPts val="900"/>
              </a:spcBef>
              <a:buClr>
                <a:srgbClr val="0E7490"/>
              </a:buClr>
              <a:buFont typeface="Arial"/>
              <a:buChar char="•"/>
            </a:pPr>
            <a:r>
              <a:rPr lang="es-CL" sz="2400" dirty="0">
                <a:solidFill>
                  <a:srgbClr val="1F2937"/>
                </a:solidFill>
              </a:rPr>
              <a:t>Video interactivo R06 y actividad 2, pasos 2 y 3.</a:t>
            </a:r>
          </a:p>
        </p:txBody>
      </p:sp>
      <p:sp>
        <p:nvSpPr>
          <p:cNvPr id="6" name="Pie"/>
          <p:cNvSpPr txBox="1"/>
          <p:nvPr/>
        </p:nvSpPr>
        <p:spPr>
          <a:xfrm>
            <a:off x="609600" y="6248400"/>
            <a:ext cx="7315200" cy="381000"/>
          </a:xfrm>
          <a:prstGeom prst="rect">
            <a:avLst/>
          </a:prstGeom>
          <a:noFill/>
        </p:spPr>
        <p:txBody>
          <a:bodyPr wrap="square" lIns="0" rIns="0" anchor="t">
            <a:normAutofit/>
          </a:bodyPr>
          <a:lstStyle/>
          <a:p>
            <a:r>
              <a:rPr lang="es-CL" sz="1200" dirty="0">
                <a:solidFill>
                  <a:srgbClr val="6B7280"/>
                </a:solidFill>
              </a:rPr>
              <a:t>PF1822 · Módulo 2 · Cápsula 3 · Aprendizaje esperado 3</a:t>
            </a:r>
          </a:p>
        </p:txBody>
      </p:sp>
    </p:spTree>
  </p:cSld>
  <p:clrMapOvr>
    <a:masterClrMapping/>
  </p:clrMapOvr>
</p:sld>
</file>

<file path=ppt/theme/theme1.xml><?xml version="1.0" encoding="utf-8"?>
<a:theme xmlns:a="http://schemas.openxmlformats.org/drawingml/2006/main" name="Modulo 2">
  <a:themeElements>
    <a:clrScheme name="Modulo 2">
      <a:dk1>
        <a:srgbClr val="1F2937"/>
      </a:dk1>
      <a:lt1>
        <a:srgbClr val="FFFFFF"/>
      </a:lt1>
      <a:dk2>
        <a:srgbClr val="0F3D5E"/>
      </a:dk2>
      <a:lt2>
        <a:srgbClr val="F3F4F6"/>
      </a:lt2>
      <a:accent1>
        <a:srgbClr val="0E7490"/>
      </a:accent1>
      <a:accent2>
        <a:srgbClr val="F59E0B"/>
      </a:accent2>
      <a:accent3>
        <a:srgbClr val="10B981"/>
      </a:accent3>
      <a:accent4>
        <a:srgbClr val="6366F1"/>
      </a:accent4>
      <a:accent5>
        <a:srgbClr val="EF4444"/>
      </a:accent5>
      <a:accent6>
        <a:srgbClr val="64748B"/>
      </a:accent6>
      <a:hlink>
        <a:srgbClr val="0563C1"/>
      </a:hlink>
      <a:folHlink>
        <a:srgbClr val="954F72"/>
      </a:folHlink>
    </a:clrScheme>
    <a:fontScheme name="Modulo 2">
      <a:majorFont>
        <a:latin typeface="Calibri"/>
        <a:ea typeface=""/>
        <a:cs typeface=""/>
      </a:majorFont>
      <a:minorFont>
        <a:latin typeface="Calibri"/>
        <a:ea typeface=""/>
        <a:cs typeface=""/>
      </a:minorFont>
    </a:fontScheme>
    <a:fmtScheme name="Modulo 2">
      <a:fillStyleLst>
        <a:solidFill>
          <a:schemeClr val="phClr"/>
        </a:solidFill>
        <a:solidFill>
          <a:schemeClr val="phClr"/>
        </a:solidFill>
        <a:solidFill>
          <a:schemeClr val="phClr"/>
        </a:solidFill>
      </a:fillStyleLst>
      <a:lnStyleLst>
        <a:ln w="9525">
          <a:solidFill>
            <a:schemeClr val="phClr"/>
          </a:solidFill>
        </a:ln>
        <a:ln w="9525">
          <a:solidFill>
            <a:schemeClr val="phClr"/>
          </a:solidFill>
        </a:ln>
        <a:ln w="9525">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Modulo 2">
  <a:themeElements>
    <a:clrScheme name="Modulo 2">
      <a:dk1>
        <a:srgbClr val="1F2937"/>
      </a:dk1>
      <a:lt1>
        <a:srgbClr val="FFFFFF"/>
      </a:lt1>
      <a:dk2>
        <a:srgbClr val="0F3D5E"/>
      </a:dk2>
      <a:lt2>
        <a:srgbClr val="F3F4F6"/>
      </a:lt2>
      <a:accent1>
        <a:srgbClr val="0E7490"/>
      </a:accent1>
      <a:accent2>
        <a:srgbClr val="F59E0B"/>
      </a:accent2>
      <a:accent3>
        <a:srgbClr val="10B981"/>
      </a:accent3>
      <a:accent4>
        <a:srgbClr val="6366F1"/>
      </a:accent4>
      <a:accent5>
        <a:srgbClr val="EF4444"/>
      </a:accent5>
      <a:accent6>
        <a:srgbClr val="64748B"/>
      </a:accent6>
      <a:hlink>
        <a:srgbClr val="0563C1"/>
      </a:hlink>
      <a:folHlink>
        <a:srgbClr val="954F72"/>
      </a:folHlink>
    </a:clrScheme>
    <a:fontScheme name="Modulo 2">
      <a:majorFont>
        <a:latin typeface="Calibri"/>
        <a:ea typeface=""/>
        <a:cs typeface=""/>
      </a:majorFont>
      <a:minorFont>
        <a:latin typeface="Calibri"/>
        <a:ea typeface=""/>
        <a:cs typeface=""/>
      </a:minorFont>
    </a:fontScheme>
    <a:fmtScheme name="Modulo 2">
      <a:fillStyleLst>
        <a:solidFill>
          <a:schemeClr val="phClr"/>
        </a:solidFill>
        <a:solidFill>
          <a:schemeClr val="phClr"/>
        </a:solidFill>
        <a:solidFill>
          <a:schemeClr val="phClr"/>
        </a:solidFill>
      </a:fillStyleLst>
      <a:lnStyleLst>
        <a:ln w="9525">
          <a:solidFill>
            <a:schemeClr val="phClr"/>
          </a:solidFill>
        </a:ln>
        <a:ln w="9525">
          <a:solidFill>
            <a:schemeClr val="phClr"/>
          </a:solidFill>
        </a:ln>
        <a:ln w="9525">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licitacion-td-2026</Application>
  <Slides>11</Slides>
  <Notes>11</Notes>
</Properties>
</file>

<file path=docProps/core.xml><?xml version="1.0" encoding="utf-8"?>
<cp:coreProperties xmlns:cp="http://schemas.openxmlformats.org/package/2006/metadata/core-properties" xmlns:dc="http://purl.org/dc/elements/1.1/" xmlns:dcterms="http://purl.org/dc/terms/" xmlns:xsi="http://www.w3.org/2001/XMLSchema-instance">
  <dc:title>PF1822 · Cápsula 3 · Diseño de prompts</dc:title>
  <dc:creator>licitacion-td-2026</dc:creator>
  <dcterms:created xsi:type="dcterms:W3CDTF">2026-10-02T04:01:28Z</dcterms:created>
</cp:coreProperties>
</file>
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>
      <a:defRPr sz="1200">
        <a:solidFill>
          <a:schemeClr val="tx1"/>
        </a:solidFill>
        <a:latin typeface="+mn-lt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Te doy la bienvenida a la cápsula 2 del módulo 2, Introducción a modelos generativos y consumo por API: Consumir modelos por API. "Hablar con un modelo es hacer una solicitud HTTP bien hecha".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Esta cápsula corresponde al aprendizaje esperado 2 del plan formativo: Utilizar un modelo de IA a través de API REST utilizando solicitudes HTTP y autenticación, basándose en la documentación oficial de OpenAI y Hugging Face. Sus criterios de evaluación son: Explica la estructura y principales secciones de los endpoints de generación y embeddings de acuerdo con la documentación oficial de OpenAI y Hugging Face. Implementa llamadas HTTP GET y POST a endpoints de completions y embeddings para el consumo de servicios, de acuerdo con la documentación oficial. Implementa una función o clase modular en Python que encapsula la llamada al API y permite reutilizarla con distintos parámetros, documentada con docstrings y pruebas unitarias simples.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REST en dos métodos. GET para leer (listar modelos); POST para enviar datos y pedir un resultado (generar, obtener embeddings).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Leer la documentación oficial. Cómo están organizados los manuales de OpenAI y de Hugging Face: referencia de la API, guías, ejemplos. En cada endpoint buscar URL, autenticación, cuerpo y respuesta.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Endpoints de generación y de embeddings. Generación: messages con roles, luego texto en choices y consumo en usage. Embeddings: input, luego un vector por texto en data.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Autenticación y variables de entorno. Encabezado Authorization, con la palabra Bearer y la clave; la clave vive en una variable de entorno o en los Secrets del entorno, nunca en el código ni en el repositorio.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requests y httpx. Las dos bibliotecas hacen lo mismo en lo básico; httpx suma tiempos de espera claros y una forma sencilla de simular la API en pruebas.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Cuerpos JSON y lectura de la respuesta. Armar el diccionario, enviarlo con el parámetro json, leer respuesta punto json. Siempre mirar primero status code.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Errores del servicio. 401 clave inválida, 429 demasiadas solicitudes (esperar y reintentar), 5xx falla del proveedor. Un mensaje claro vale más que un programa que se cae.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Modularizar, documentar y probar. Una clase que encapsula las llamadas, con docstrings, y pruebas unitarias que simulan la API para correr sin conexión ni costo.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Tu tarea. Notebook guiado y actividad 1, parte B: ClienteIA.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3200"/>
      </a:lvl1pPr>
    </p:titleStyle>
    <p:bodyStyle>
      <a:lvl1pPr>
        <a:defRPr sz="24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3D5E"/>
          </a:solidFill>
          <a:ln>
            <a:noFill/>
          </a:ln>
        </p:spPr>
      </p:sp>
      <p:sp>
        <p:nvSpPr>
          <p:cNvPr id="3" name="Franja 3"/>
          <p:cNvSpPr/>
          <p:nvPr/>
        </p:nvSpPr>
        <p:spPr>
          <a:xfrm>
            <a:off x="609600" y="3276600"/>
            <a:ext cx="1524000" cy="762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7" name="Etiqueta"/>
          <p:cNvSpPr txBox="1"/>
          <p:nvPr/>
        </p:nvSpPr>
        <p:spPr>
          <a:xfrm>
            <a:off x="609600" y="609600"/>
            <a:ext cx="7315200" cy="5334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1200" b="1" dirty="0">
                <a:solidFill>
                  <a:srgbClr val="9FC3E6"/>
                </a:solidFill>
              </a:rPr>
              <a:t>MÓDULO 2 · INTRODUCCIÓN A MODELOS GENERATIVOS Y CONSUMO POR API</a:t>
            </a:r>
          </a:p>
        </p:txBody>
      </p:sp>
      <p:sp>
        <p:nvSpPr>
          <p:cNvPr id="4" name="Título"/>
          <p:cNvSpPr txBox="1"/>
          <p:nvPr/>
        </p:nvSpPr>
        <p:spPr>
          <a:xfrm>
            <a:off x="609600" y="1219200"/>
            <a:ext cx="7315200" cy="19812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4000" b="1" dirty="0">
                <a:solidFill>
                  <a:srgbClr val="FFFFFF"/>
                </a:solidFill>
              </a:rPr>
              <a:t>Cápsula 2: Consumir modelos por API</a:t>
            </a:r>
          </a:p>
        </p:txBody>
      </p:sp>
      <p:sp>
        <p:nvSpPr>
          <p:cNvPr id="5" name="Subtítulo"/>
          <p:cNvSpPr txBox="1"/>
          <p:nvPr/>
        </p:nvSpPr>
        <p:spPr>
          <a:xfrm>
            <a:off x="609600" y="3505200"/>
            <a:ext cx="7315200" cy="18288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2200" dirty="0">
                <a:solidFill>
                  <a:srgbClr val="E5E7EB"/>
                </a:solidFill>
              </a:rPr>
              <a:t>"Hablar con un modelo es hacer una solicitud HTTP bien hecha".</a:t>
            </a:r>
          </a:p>
          <a:p>
            <a:r>
              <a:rPr lang="es-CL" sz="2200" dirty="0">
                <a:solidFill>
                  <a:srgbClr val="E5E7EB"/>
                </a:solidFill>
              </a:rPr>
              <a:t>Contenido del plan: 2. INTEGRACIÓN Y CONSUMO DE APIS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CBD5E1"/>
                </a:solidFill>
              </a:rPr>
              <a:t>PF1822 · Módulo 2 · Cápsula 2 · Aprendizaje esperado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7" name="Etiqueta"/>
          <p:cNvSpPr txBox="1"/>
          <p:nvPr/>
        </p:nvSpPr>
        <p:spPr>
          <a:xfrm>
            <a:off x="609600" y="228600"/>
            <a:ext cx="7315200" cy="9144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1200" b="1" dirty="0">
                <a:solidFill>
                  <a:srgbClr val="0E7490"/>
                </a:solidFill>
              </a:rPr>
              <a:t>APRENDIZAJE Y CRITERIOS TEXTUALES DEL PLAN FORMATIVO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600" y="1181100"/>
            <a:ext cx="7315200" cy="6858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2800" b="1" dirty="0">
                <a:solidFill>
                  <a:srgbClr val="0F3D5E"/>
                </a:solidFill>
              </a:rPr>
              <a:t>Aprendizaje esperado 2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9431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2095500"/>
            <a:ext cx="7315200" cy="40005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1300" b="1" dirty="0">
                <a:solidFill>
                  <a:srgbClr val="1F2937"/>
                </a:solidFill>
              </a:rPr>
              <a:t>UTILIZAR UN MODELO DE IA A TRAVÉS DE API REST UTILIZANDO SOLICITUDES HTTP Y AUTENTICACIÓN, BASÁNDOSE EN LA DOCUMENTACIÓN OFICIAL DE OPENAI Y HUGGING FACE.</a:t>
            </a:r>
          </a:p>
          <a:p>
            <a:pPr marL="0" indent="0">
              <a:spcBef>
                <a:spcPts val="1400"/>
              </a:spcBef>
              <a:buNone/>
            </a:pPr>
            <a:r>
              <a:rPr lang="es-CL" sz="1100" b="1" dirty="0">
                <a:solidFill>
                  <a:srgbClr val="0E7490"/>
                </a:solidFill>
              </a:rPr>
              <a:t>CRITERIOS DE EVALUACIÓN</a:t>
            </a:r>
          </a:p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1300" dirty="0">
                <a:solidFill>
                  <a:srgbClr val="1F2937"/>
                </a:solidFill>
              </a:rPr>
              <a:t>2.1 EXPLICA LA ESTRUCTURA Y PRINCIPALES SECCIONES DE LOS ENDPOINTS DE GENERACIÓN Y EMBEDDINGS DE ACUERDO CON LA DOCUMENTACIÓN OFICIAL DE OPENAI Y HUGGING FACE.</a:t>
            </a:r>
          </a:p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1300" dirty="0">
                <a:solidFill>
                  <a:srgbClr val="1F2937"/>
                </a:solidFill>
              </a:rPr>
              <a:t>2.2 IMPLEMENTA LLAMADAS HTTP GET Y POST A ENDPOINTS DE COMPLETIONS Y EMBEDDINGS PARA EL CONSUMO DE SERVICIOS, DE ACUERDO CON LA DOCUMENTACIÓN OFICIAL.</a:t>
            </a:r>
          </a:p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1300" dirty="0">
                <a:solidFill>
                  <a:srgbClr val="1F2937"/>
                </a:solidFill>
              </a:rPr>
              <a:t>2.3 IMPLEMENTA UNA FUNCIÓN O CLASE MODULAR EN PYTHON QUE ENCAPSULA LA LLAMADA AL API Y PERMITE REUTILIZARLA CON DISTINTOS PARÁMETROS, DOCUMENTADA CON DOCSTRINGS Y PRUEBAS UNITARIAS SIMPLES.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PF1822 · Módulo 2 · Cápsula 2 · Aprendizaje esperado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7" name="Etiqueta"/>
          <p:cNvSpPr txBox="1"/>
          <p:nvPr/>
        </p:nvSpPr>
        <p:spPr>
          <a:xfrm>
            <a:off x="609600" y="228600"/>
            <a:ext cx="7315200" cy="9144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1200" b="1" dirty="0">
                <a:solidFill>
                  <a:srgbClr val="0E7490"/>
                </a:solidFill>
              </a:rPr>
              <a:t>CONTENIDO DEL PLAN (TEXTUAL)</a:t>
            </a:r>
          </a:p>
          <a:p>
            <a:r>
              <a:rPr lang="es-CL" sz="1200" b="1" dirty="0">
                <a:solidFill>
                  <a:srgbClr val="0F3D5E"/>
                </a:solidFill>
              </a:rPr>
              <a:t>PRINCIPIOS REST Y MÉTODOS HTTP: GET Y POST.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600" y="1181100"/>
            <a:ext cx="7315200" cy="6858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2800" b="1" dirty="0">
                <a:solidFill>
                  <a:srgbClr val="0F3D5E"/>
                </a:solidFill>
              </a:rPr>
              <a:t>REST en dos métodos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9431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2095500"/>
            <a:ext cx="7315200" cy="40005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b="1" dirty="0">
                <a:solidFill>
                  <a:srgbClr val="1F2937"/>
                </a:solidFill>
              </a:rPr>
              <a:t>GET</a:t>
            </a:r>
            <a:r>
              <a:rPr lang="es-CL" sz="2400" dirty="0">
                <a:solidFill>
                  <a:srgbClr val="1F2937"/>
                </a:solidFill>
              </a:rPr>
              <a:t> para leer (listar modelos); </a:t>
            </a:r>
            <a:r>
              <a:rPr lang="es-CL" sz="2400" b="1" dirty="0">
                <a:solidFill>
                  <a:srgbClr val="1F2937"/>
                </a:solidFill>
              </a:rPr>
              <a:t>POST</a:t>
            </a:r>
            <a:r>
              <a:rPr lang="es-CL" sz="2400" dirty="0">
                <a:solidFill>
                  <a:srgbClr val="1F2937"/>
                </a:solidFill>
              </a:rPr>
              <a:t> para enviar datos y pedir un resultado (generar, obtener embeddings).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PF1822 · Módulo 2 · Cápsula 2 · Aprendizaje esperado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7" name="Etiqueta"/>
          <p:cNvSpPr txBox="1"/>
          <p:nvPr/>
        </p:nvSpPr>
        <p:spPr>
          <a:xfrm>
            <a:off x="609600" y="228600"/>
            <a:ext cx="7315200" cy="9144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1200" b="1" dirty="0">
                <a:solidFill>
                  <a:srgbClr val="0E7490"/>
                </a:solidFill>
              </a:rPr>
              <a:t>CONTENIDO DEL PLAN (TEXTUAL)</a:t>
            </a:r>
          </a:p>
          <a:p>
            <a:r>
              <a:rPr lang="es-CL" sz="1200" b="1" dirty="0">
                <a:solidFill>
                  <a:srgbClr val="0F3D5E"/>
                </a:solidFill>
              </a:rPr>
              <a:t>DOCUMENTACIÓN OFICIAL: ENLACES Y ORGANIZACIÓN DE LOS MANUALES DE OPENAI Y HUGGING FACE INFERENCE API.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600" y="1181100"/>
            <a:ext cx="7315200" cy="6858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2800" b="1" dirty="0">
                <a:solidFill>
                  <a:srgbClr val="0F3D5E"/>
                </a:solidFill>
              </a:rPr>
              <a:t>Leer la documentación oficial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9431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2095500"/>
            <a:ext cx="7315200" cy="40005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Cómo están organizados los manuales de OpenAI y de Hugging Face: referencia de la API, guías, ejemplos.</a:t>
            </a:r>
          </a:p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En cada endpoint buscar URL, autenticación, cuerpo y respuesta.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PF1822 · Módulo 2 · Cápsula 2 · Aprendizaje esperado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7" name="Etiqueta"/>
          <p:cNvSpPr txBox="1"/>
          <p:nvPr/>
        </p:nvSpPr>
        <p:spPr>
          <a:xfrm>
            <a:off x="609600" y="228600"/>
            <a:ext cx="7315200" cy="9144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1200" b="1" dirty="0">
                <a:solidFill>
                  <a:srgbClr val="0E7490"/>
                </a:solidFill>
              </a:rPr>
              <a:t>CONTENIDO DEL PLAN (TEXTUAL)</a:t>
            </a:r>
          </a:p>
          <a:p>
            <a:r>
              <a:rPr lang="es-CL" sz="1200" b="1" dirty="0">
                <a:solidFill>
                  <a:srgbClr val="0F3D5E"/>
                </a:solidFill>
              </a:rPr>
              <a:t>ENDPOINTS DE GENERACIÓN Y EMBEDDINGS.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600" y="1181100"/>
            <a:ext cx="7315200" cy="6858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2800" b="1" dirty="0">
                <a:solidFill>
                  <a:srgbClr val="0F3D5E"/>
                </a:solidFill>
              </a:rPr>
              <a:t>Endpoints de generación y de embeddings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9431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2095500"/>
            <a:ext cx="7315200" cy="40005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Generación: messages con roles → texto en choices y consumo en usage.</a:t>
            </a:r>
          </a:p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Embeddings: input → un vector por texto en data.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PF1822 · Módulo 2 · Cápsula 2 · Aprendizaje esperado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7" name="Etiqueta"/>
          <p:cNvSpPr txBox="1"/>
          <p:nvPr/>
        </p:nvSpPr>
        <p:spPr>
          <a:xfrm>
            <a:off x="609600" y="228600"/>
            <a:ext cx="7315200" cy="9144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1200" b="1" dirty="0">
                <a:solidFill>
                  <a:srgbClr val="0E7490"/>
                </a:solidFill>
              </a:rPr>
              <a:t>CONTENIDO DEL PLAN (TEXTUAL)</a:t>
            </a:r>
          </a:p>
          <a:p>
            <a:r>
              <a:rPr lang="es-CL" sz="1200" b="1" dirty="0">
                <a:solidFill>
                  <a:srgbClr val="0F3D5E"/>
                </a:solidFill>
              </a:rPr>
              <a:t>GESTIÓN DE AUTENTICACIÓN Y VARIABLES DE ENTORNO.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600" y="1181100"/>
            <a:ext cx="7315200" cy="6858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2800" b="1" dirty="0">
                <a:solidFill>
                  <a:srgbClr val="0F3D5E"/>
                </a:solidFill>
              </a:rPr>
              <a:t>Autenticación y variables de entorno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9431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2095500"/>
            <a:ext cx="7315200" cy="40005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Encabezado Authorization: Bearer &lt;clave&gt;; la clave vive en una variable de entorno o en los Secrets del entorno, nunca en el código ni en el repositorio.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PF1822 · Módulo 2 · Cápsula 2 · Aprendizaje esperado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7" name="Etiqueta"/>
          <p:cNvSpPr txBox="1"/>
          <p:nvPr/>
        </p:nvSpPr>
        <p:spPr>
          <a:xfrm>
            <a:off x="609600" y="228600"/>
            <a:ext cx="7315200" cy="9144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1200" b="1" dirty="0">
                <a:solidFill>
                  <a:srgbClr val="0E7490"/>
                </a:solidFill>
              </a:rPr>
              <a:t>CONTENIDO DEL PLAN (TEXTUAL)</a:t>
            </a:r>
          </a:p>
          <a:p>
            <a:r>
              <a:rPr lang="es-CL" sz="1200" b="1" dirty="0">
                <a:solidFill>
                  <a:srgbClr val="0F3D5E"/>
                </a:solidFill>
              </a:rPr>
              <a:t>LIBRERÍAS: REQUESTS Y HTTPX.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600" y="1181100"/>
            <a:ext cx="7315200" cy="6858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2800" b="1" dirty="0">
                <a:solidFill>
                  <a:srgbClr val="0F3D5E"/>
                </a:solidFill>
              </a:rPr>
              <a:t>requests y httpx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9431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2095500"/>
            <a:ext cx="7315200" cy="40005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Las dos bibliotecas hacen lo mismo en lo básico; httpx suma tiempos de espera claros y una forma sencilla de simular la API en pruebas.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PF1822 · Módulo 2 · Cápsula 2 · Aprendizaje esperado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7" name="Etiqueta"/>
          <p:cNvSpPr txBox="1"/>
          <p:nvPr/>
        </p:nvSpPr>
        <p:spPr>
          <a:xfrm>
            <a:off x="609600" y="228600"/>
            <a:ext cx="7315200" cy="9144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1200" b="1" dirty="0">
                <a:solidFill>
                  <a:srgbClr val="0E7490"/>
                </a:solidFill>
              </a:rPr>
              <a:t>CONTENIDO DEL PLAN (TEXTUAL)</a:t>
            </a:r>
          </a:p>
          <a:p>
            <a:r>
              <a:rPr lang="es-CL" sz="1200" b="1" dirty="0">
                <a:solidFill>
                  <a:srgbClr val="0F3D5E"/>
                </a:solidFill>
              </a:rPr>
              <a:t>EJEMPLOS DE USO: PARÁMETROS, CUERPOS JSON Y PARSING DE RESPUESTA.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600" y="1181100"/>
            <a:ext cx="7315200" cy="6858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2800" b="1" dirty="0">
                <a:solidFill>
                  <a:srgbClr val="0F3D5E"/>
                </a:solidFill>
              </a:rPr>
              <a:t>Cuerpos JSON y lectura de la respuesta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9431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2095500"/>
            <a:ext cx="7315200" cy="40005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Armar el diccionario, enviarlo con json=, leer respuesta.json().</a:t>
            </a:r>
          </a:p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Siempre mirar primero status_code.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PF1822 · Módulo 2 · Cápsula 2 · Aprendizaje esperado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7" name="Etiqueta"/>
          <p:cNvSpPr txBox="1"/>
          <p:nvPr/>
        </p:nvSpPr>
        <p:spPr>
          <a:xfrm>
            <a:off x="609600" y="228600"/>
            <a:ext cx="7315200" cy="9144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1200" b="1" dirty="0">
                <a:solidFill>
                  <a:srgbClr val="0E7490"/>
                </a:solidFill>
              </a:rPr>
              <a:t>CONTENIDO DEL PLAN (TEXTUAL)</a:t>
            </a:r>
          </a:p>
          <a:p>
            <a:r>
              <a:rPr lang="es-CL" sz="1200" b="1" dirty="0">
                <a:solidFill>
                  <a:srgbClr val="0F3D5E"/>
                </a:solidFill>
              </a:rPr>
              <a:t>MANEJO BÁSICO DE ERRORES Y RESPUESTAS DEL SERVICIO.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600" y="1181100"/>
            <a:ext cx="7315200" cy="6858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2800" b="1" dirty="0">
                <a:solidFill>
                  <a:srgbClr val="0F3D5E"/>
                </a:solidFill>
              </a:rPr>
              <a:t>Errores del servicio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9431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2095500"/>
            <a:ext cx="7315200" cy="40005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401 clave inválida · 429 demasiadas solicitudes (esperar y reintentar) · 5xx falla del proveedor.</a:t>
            </a:r>
          </a:p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Un mensaje claro vale más que un programa que se cae.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PF1822 · Módulo 2 · Cápsula 2 · Aprendizaje esperado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7" name="Etiqueta"/>
          <p:cNvSpPr txBox="1"/>
          <p:nvPr/>
        </p:nvSpPr>
        <p:spPr>
          <a:xfrm>
            <a:off x="609600" y="228600"/>
            <a:ext cx="7315200" cy="9144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1100" b="1" dirty="0">
                <a:solidFill>
                  <a:srgbClr val="0E7490"/>
                </a:solidFill>
              </a:rPr>
              <a:t>CONTENIDO DEL PLAN (TEXTUAL)</a:t>
            </a:r>
          </a:p>
          <a:p>
            <a:r>
              <a:rPr lang="es-CL" sz="1100" b="1" dirty="0">
                <a:solidFill>
                  <a:srgbClr val="0F3D5E"/>
                </a:solidFill>
              </a:rPr>
              <a:t>MODULARIZACIÓN DE FUNCIONES O CLASES PARA CONSUMO DE APIS.</a:t>
            </a:r>
          </a:p>
          <a:p>
            <a:r>
              <a:rPr lang="es-CL" sz="1100" b="1" dirty="0">
                <a:solidFill>
                  <a:srgbClr val="0F3D5E"/>
                </a:solidFill>
              </a:rPr>
              <a:t>DOCUMENTACIÓN CON DOCSTRINGS.</a:t>
            </a:r>
          </a:p>
          <a:p>
            <a:r>
              <a:rPr lang="es-CL" sz="1100" b="1" dirty="0">
                <a:solidFill>
                  <a:srgbClr val="0F3D5E"/>
                </a:solidFill>
              </a:rPr>
              <a:t>PRUEBAS UNITARIAS SIMPLES PARA FUNCIONES DE CONSUMO DE APIS.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600" y="1181100"/>
            <a:ext cx="7315200" cy="6858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2800" b="1" dirty="0">
                <a:solidFill>
                  <a:srgbClr val="0F3D5E"/>
                </a:solidFill>
              </a:rPr>
              <a:t>Modularizar, documentar y probar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9431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2095500"/>
            <a:ext cx="7315200" cy="40005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Una clase que encapsula las llamadas, con docstrings, y pruebas unitarias que simulan la API para correr sin conexión ni costo.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PF1822 · Módulo 2 · Cápsula 2 · Aprendizaje esperado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7" name="Etiqueta"/>
          <p:cNvSpPr txBox="1"/>
          <p:nvPr/>
        </p:nvSpPr>
        <p:spPr>
          <a:xfrm>
            <a:off x="609600" y="228600"/>
            <a:ext cx="7315200" cy="9144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1200" b="1" dirty="0">
                <a:solidFill>
                  <a:srgbClr val="0E7490"/>
                </a:solidFill>
              </a:rPr>
              <a:t>PRÁCTICA DEL APRENDIZAJE ESPERADO 2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600" y="1181100"/>
            <a:ext cx="7315200" cy="6858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2800" b="1" dirty="0">
                <a:solidFill>
                  <a:srgbClr val="0F3D5E"/>
                </a:solidFill>
              </a:rPr>
              <a:t>Tu tarea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9431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2095500"/>
            <a:ext cx="7315200" cy="40005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Notebook guiado R05 y actividad 1, parte B: ClienteIA.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PF1822 · Módulo 2 · Cápsula 2 · Aprendizaje esperado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dulo 2">
  <a:themeElements>
    <a:clrScheme name="Modulo 2">
      <a:dk1>
        <a:srgbClr val="1F2937"/>
      </a:dk1>
      <a:lt1>
        <a:srgbClr val="FFFFFF"/>
      </a:lt1>
      <a:dk2>
        <a:srgbClr val="0F3D5E"/>
      </a:dk2>
      <a:lt2>
        <a:srgbClr val="F3F4F6"/>
      </a:lt2>
      <a:accent1>
        <a:srgbClr val="0E7490"/>
      </a:accent1>
      <a:accent2>
        <a:srgbClr val="F59E0B"/>
      </a:accent2>
      <a:accent3>
        <a:srgbClr val="10B981"/>
      </a:accent3>
      <a:accent4>
        <a:srgbClr val="6366F1"/>
      </a:accent4>
      <a:accent5>
        <a:srgbClr val="EF4444"/>
      </a:accent5>
      <a:accent6>
        <a:srgbClr val="64748B"/>
      </a:accent6>
      <a:hlink>
        <a:srgbClr val="0563C1"/>
      </a:hlink>
      <a:folHlink>
        <a:srgbClr val="954F72"/>
      </a:folHlink>
    </a:clrScheme>
    <a:fontScheme name="Modulo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Modulo 2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dulo 2">
  <a:themeElements>
    <a:clrScheme name="Modulo 2">
      <a:dk1>
        <a:srgbClr val="1F2937"/>
      </a:dk1>
      <a:lt1>
        <a:srgbClr val="FFFFFF"/>
      </a:lt1>
      <a:dk2>
        <a:srgbClr val="0F3D5E"/>
      </a:dk2>
      <a:lt2>
        <a:srgbClr val="F3F4F6"/>
      </a:lt2>
      <a:accent1>
        <a:srgbClr val="0E7490"/>
      </a:accent1>
      <a:accent2>
        <a:srgbClr val="F59E0B"/>
      </a:accent2>
      <a:accent3>
        <a:srgbClr val="10B981"/>
      </a:accent3>
      <a:accent4>
        <a:srgbClr val="6366F1"/>
      </a:accent4>
      <a:accent5>
        <a:srgbClr val="EF4444"/>
      </a:accent5>
      <a:accent6>
        <a:srgbClr val="64748B"/>
      </a:accent6>
      <a:hlink>
        <a:srgbClr val="0563C1"/>
      </a:hlink>
      <a:folHlink>
        <a:srgbClr val="954F72"/>
      </a:folHlink>
    </a:clrScheme>
    <a:fontScheme name="Modulo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Modulo 2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licitacion-td-2026</Application>
  <Slides>11</Slides>
  <Notes>11</Not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PF1822 · Cápsula 2 · Consumir modelos por API</dc:title>
  <dc:creator>licitacion-td-2026</dc:creator>
  <dcterms:created xsi:type="dcterms:W3CDTF">2026-10-02T04:01:28Z</dcterms:created>
</cp:coreProperties>
</file>
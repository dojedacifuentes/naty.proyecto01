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>
        <a:solidFill>
          <a:schemeClr val="tx1"/>
        </a:solidFill>
        <a:latin typeface="+mn-lt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Te doy la bienvenida a la cápsula 4 del módulo 2, Introducción a modelos generativos y consumo por API: Preparar y medir texto. "Basura entra, basura sale: limpiar antes, medir después".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Esta cápsula corresponde al aprendizaje esperado 4 del plan formativo: Implementar un pipeline de preprocesamiento y evaluación básica de texto en Python, aplicando técnicas de limpieza, normalización y métricas iniciales de calidad, de acuerdo con los requisitos de entrada y salida del modelo. Sus criterios de evaluación son: Explica los conceptos fundamentales de NLP y evaluación básica de respuestas, considerando token, lema, stopwords, n-gramas, coherencia y relevancia. Codifica una rutina en Python para la limpieza de texto, tokenización y normalización sobre un corpus de documentos, de acuerdo con buenas prácticas. Calcula métricas básicas de calidad de respuestas generadas, considerando coherencia, relevancia, BLEU y ROUGE, registrando los resultados obtenidos de acuerdo con un protocolo definido.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Conceptos básicos de NLP. Token (unidad que procesa el modelo), palabra, lema (forma de diccionario), stopwords (palabras frecuentes con poco contenido), n-gramas (secuencias de n tokens).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Limpieza. Quitar HTML, caracteres especiales, firmas y ruido; reemplazar correos y enlaces por marcas. Cuidado con no borrar el problema que reporta el ticket.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Normalización. Mayúsculas y minúsculas, espacios, estandarización de texto; tildes solo para comparar al medir.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Tokenizar, lematizar, stemming. spaCy (es core news sm) y NLTK. Lematizar: "corriendo", luego "correr"; stemming: recorta la raíz.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Vectorización básica. CountVectorizer y TF-IDF de scikit-learn: representar textos como números para compararlos.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Un pipeline modular. Funciones reutilizables por etapa (limpiar, tokenizar, ngramas, medir) que se encadenan y se prueban por separado.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Métricas de calidad. ROUGE (cuánto de la referencia aparece en el resumen), BLEU (cuánto del resumen aparece en la referencia, con penalización por largo), coherencia y relevancia con pauta humana. En español, usar un tokenizador que respete las tildes.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Registrar y ajustar. Una fila por prueba en un CSV; identificar ajustes a partir de los números.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Tu tarea. Actividad 2, pasos 1, 4 y 5.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/>
      </a:lvl1pPr>
    </p:titleStyle>
    <p:bodyStyle>
      <a:lvl1pPr>
        <a:defRPr sz="24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D5E"/>
          </a:solidFill>
          <a:ln>
            <a:noFill/>
          </a:ln>
        </p:spPr>
      </p:sp>
      <p:sp>
        <p:nvSpPr>
          <p:cNvPr id="3" name="Franja 3"/>
          <p:cNvSpPr/>
          <p:nvPr/>
        </p:nvSpPr>
        <p:spPr>
          <a:xfrm>
            <a:off x="609600" y="3276600"/>
            <a:ext cx="1524000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609600"/>
            <a:ext cx="7315200" cy="533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9FC3E6"/>
                </a:solidFill>
              </a:rPr>
              <a:t>MÓDULO 2 · INTRODUCCIÓN A MODELOS GENERATIVOS Y CONSUMO POR API</a:t>
            </a:r>
          </a:p>
        </p:txBody>
      </p:sp>
      <p:sp>
        <p:nvSpPr>
          <p:cNvPr id="4" name="Título"/>
          <p:cNvSpPr txBox="1"/>
          <p:nvPr/>
        </p:nvSpPr>
        <p:spPr>
          <a:xfrm>
            <a:off x="609600" y="1219200"/>
            <a:ext cx="7315200" cy="19812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4000" b="1" dirty="0">
                <a:solidFill>
                  <a:srgbClr val="FFFFFF"/>
                </a:solidFill>
              </a:rPr>
              <a:t>Cápsula 4: Preparar y medir texto</a:t>
            </a:r>
          </a:p>
        </p:txBody>
      </p:sp>
      <p:sp>
        <p:nvSpPr>
          <p:cNvPr id="5" name="Subtítulo"/>
          <p:cNvSpPr txBox="1"/>
          <p:nvPr/>
        </p:nvSpPr>
        <p:spPr>
          <a:xfrm>
            <a:off x="609600" y="3505200"/>
            <a:ext cx="7315200" cy="18288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2200" dirty="0">
                <a:solidFill>
                  <a:srgbClr val="E5E7EB"/>
                </a:solidFill>
              </a:rPr>
              <a:t>"Basura entra, basura sale: limpiar antes, medir después".</a:t>
            </a:r>
          </a:p>
          <a:p>
            <a:r>
              <a:rPr lang="es-CL" sz="2200" dirty="0">
                <a:solidFill>
                  <a:srgbClr val="E5E7EB"/>
                </a:solidFill>
              </a:rPr>
              <a:t>Contenido del plan: 4. PIPELINE DE PREPROCESAMIENTO Y EVALUACIÓN BÁSICA DE TEXTO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CBD5E1"/>
                </a:solidFill>
              </a:rPr>
              <a:t>PF1822 · Módulo 2 · Cápsula 4 · Aprendizaje esperado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APRENDIZAJE Y CRITERIOS TEXTUALES DEL PLAN FORMATIVO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Aprendizaje esperado 4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1300" b="1" dirty="0">
                <a:solidFill>
                  <a:srgbClr val="1F2937"/>
                </a:solidFill>
              </a:rPr>
              <a:t>IMPLEMENTAR UN PIPELINE DE PREPROCESAMIENTO Y EVALUACIÓN BÁSICA DE TEXTO EN PYTHON, APLICANDO TÉCNICAS DE LIMPIEZA, NORMALIZACIÓN Y MÉTRICAS INICIALES DE CALIDAD, DE ACUERDO CON LOS REQUISITOS DE ENTRADA Y SALIDA DEL MODELO.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s-CL" sz="1100" b="1" dirty="0">
                <a:solidFill>
                  <a:srgbClr val="0E7490"/>
                </a:solidFill>
              </a:rPr>
              <a:t>CRITERIOS DE EVALUACIÓN</a:t>
            </a:r>
          </a:p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1300" dirty="0">
                <a:solidFill>
                  <a:srgbClr val="1F2937"/>
                </a:solidFill>
              </a:rPr>
              <a:t>4.1 EXPLICA LOS CONCEPTOS FUNDAMENTALES DE NLP Y EVALUACIÓN BÁSICA DE RESPUESTAS, CONSIDERANDO TOKEN, LEMA, STOPWORDS, N-GRAMAS, COHERENCIA Y RELEVANCIA.</a:t>
            </a:r>
          </a:p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1300" dirty="0">
                <a:solidFill>
                  <a:srgbClr val="1F2937"/>
                </a:solidFill>
              </a:rPr>
              <a:t>4.2 CODIFICA UNA RUTINA EN PYTHON PARA LA LIMPIEZA DE TEXTO, TOKENIZACIÓN Y NORMALIZACIÓN SOBRE UN CORPUS DE DOCUMENTOS, DE ACUERDO CON BUENAS PRÁCTICAS.</a:t>
            </a:r>
          </a:p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1300" dirty="0">
                <a:solidFill>
                  <a:srgbClr val="1F2937"/>
                </a:solidFill>
              </a:rPr>
              <a:t>4.3 CALCULA MÉTRICAS BÁSICAS DE CALIDAD DE RESPUESTAS GENERADAS, CONSIDERANDO COHERENCIA, RELEVANCIA, BLEU Y ROUGE, REGISTRANDO LOS RESULTADOS OBTENIDOS DE ACUERDO CON UN PROTOCOLO DEFINIDO.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PF1822 · Módulo 2 · Cápsula 4 · Aprendizaje esperado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CONTENIDO DEL PLAN (TEXTUAL)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CONCEPTOS BÁSICOS DE NLP: TOKEN, PALABRA, LEMA, STOPWORDS Y N-GRAMAS.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Conceptos básicos de NLP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b="1" dirty="0">
                <a:solidFill>
                  <a:srgbClr val="1F2937"/>
                </a:solidFill>
              </a:rPr>
              <a:t>Token</a:t>
            </a:r>
            <a:r>
              <a:rPr lang="es-CL" sz="2400" dirty="0">
                <a:solidFill>
                  <a:srgbClr val="1F2937"/>
                </a:solidFill>
              </a:rPr>
              <a:t> (unidad que procesa el modelo), palabra, </a:t>
            </a:r>
            <a:r>
              <a:rPr lang="es-CL" sz="2400" b="1" dirty="0">
                <a:solidFill>
                  <a:srgbClr val="1F2937"/>
                </a:solidFill>
              </a:rPr>
              <a:t>lema</a:t>
            </a:r>
            <a:r>
              <a:rPr lang="es-CL" sz="2400" dirty="0">
                <a:solidFill>
                  <a:srgbClr val="1F2937"/>
                </a:solidFill>
              </a:rPr>
              <a:t> (forma de diccionario), </a:t>
            </a:r>
            <a:r>
              <a:rPr lang="es-CL" sz="2400" b="1" dirty="0">
                <a:solidFill>
                  <a:srgbClr val="1F2937"/>
                </a:solidFill>
              </a:rPr>
              <a:t>stopwords</a:t>
            </a:r>
            <a:r>
              <a:rPr lang="es-CL" sz="2400" dirty="0">
                <a:solidFill>
                  <a:srgbClr val="1F2937"/>
                </a:solidFill>
              </a:rPr>
              <a:t> (palabras frecuentes con poco contenido), </a:t>
            </a:r>
            <a:r>
              <a:rPr lang="es-CL" sz="2400" b="1" dirty="0">
                <a:solidFill>
                  <a:srgbClr val="1F2937"/>
                </a:solidFill>
              </a:rPr>
              <a:t>n-gramas</a:t>
            </a:r>
            <a:r>
              <a:rPr lang="es-CL" sz="2400" dirty="0">
                <a:solidFill>
                  <a:srgbClr val="1F2937"/>
                </a:solidFill>
              </a:rPr>
              <a:t> (secuencias de n tokens).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PF1822 · Módulo 2 · Cápsula 4 · Aprendizaje esperado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CONTENIDO DEL PLAN (TEXTUAL)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TÉCNICAS DE LIMPIEZA: ELIMINACIÓN DE CARACTERES ESPECIALES, HTML Y RUIDO.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Limpieza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Quitar HTML, caracteres especiales, firmas y ruido; reemplazar correos y enlaces por marcas.</a:t>
            </a:r>
          </a:p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Cuidado con no borrar el problema que reporta el ticket.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PF1822 · Módulo 2 · Cápsula 4 · Aprendizaje esperado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CONTENIDO DEL PLAN (TEXTUAL)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NORMALIZACIÓN DE MAYÚSCULAS, MINÚSCULAS Y ESTANDARIZACIÓN DE TEXTO.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Normalización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Mayúsculas y minúsculas, espacios, estandarización de texto; tildes solo para comparar al medir.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PF1822 · Módulo 2 · Cápsula 4 · Aprendizaje esperado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CONTENIDO DEL PLAN (TEXTUAL)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TOKENIZACIÓN Y NORMALIZACIÓN CON LIBRERÍAS COMO SPACY O NLTK.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LEMATIZACIÓN Y STEMMING.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Tokenizar, lematizar, stemming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spaCy (es_core_news_sm) y NLTK.</a:t>
            </a:r>
          </a:p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Lematizar: "corriendo" → "correr"; stemming: recorta la raíz.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PF1822 · Módulo 2 · Cápsula 4 · Aprendizaje esperado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CONTENIDO DEL PLAN (TEXTUAL)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VECTORIZACIÓN BÁSICA: COUNTVECTORIZER Y TF-IDF.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Vectorización básica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CountVectorizer y TF-IDF de scikit-learn: representar textos como números para compararlos.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PF1822 · Módulo 2 · Cápsula 4 · Aprendizaje esperado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CONTENIDO DEL PLAN (TEXTUAL)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ESTRUCTURA MODULAR DE UN PIPELINE DE PREPROCESAMIENTO.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FUNCIONES REUTILIZABLES PARA CADA ETAPA.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Un pipeline modular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Funciones reutilizables por etapa (limpiar, tokenizar, ngramas, medir) que se encadenan y se prueban por separado.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PF1822 · Módulo 2 · Cápsula 4 · Aprendizaje esperado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CONTENIDO DEL PLAN (TEXTUAL)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MÉTRICAS BÁSICAS DE CALIDAD DE RESPUESTAS: COHERENCIA, RELEVANCIA, BLEU Y ROUGE.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Métricas de calidad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000" b="1" dirty="0">
                <a:solidFill>
                  <a:srgbClr val="1F2937"/>
                </a:solidFill>
              </a:rPr>
              <a:t>ROUGE</a:t>
            </a:r>
            <a:r>
              <a:rPr lang="es-CL" sz="2000" dirty="0">
                <a:solidFill>
                  <a:srgbClr val="1F2937"/>
                </a:solidFill>
              </a:rPr>
              <a:t> (cuánto de la referencia aparece en el resumen), </a:t>
            </a:r>
            <a:r>
              <a:rPr lang="es-CL" sz="2000" b="1" dirty="0">
                <a:solidFill>
                  <a:srgbClr val="1F2937"/>
                </a:solidFill>
              </a:rPr>
              <a:t>BLEU</a:t>
            </a:r>
            <a:r>
              <a:rPr lang="es-CL" sz="2000" dirty="0">
                <a:solidFill>
                  <a:srgbClr val="1F2937"/>
                </a:solidFill>
              </a:rPr>
              <a:t> (cuánto del resumen aparece en la referencia, con penalización por largo), </a:t>
            </a:r>
            <a:r>
              <a:rPr lang="es-CL" sz="2000" b="1" dirty="0">
                <a:solidFill>
                  <a:srgbClr val="1F2937"/>
                </a:solidFill>
              </a:rPr>
              <a:t>coherencia</a:t>
            </a:r>
            <a:r>
              <a:rPr lang="es-CL" sz="2000" dirty="0">
                <a:solidFill>
                  <a:srgbClr val="1F2937"/>
                </a:solidFill>
              </a:rPr>
              <a:t> y </a:t>
            </a:r>
            <a:r>
              <a:rPr lang="es-CL" sz="2000" b="1" dirty="0">
                <a:solidFill>
                  <a:srgbClr val="1F2937"/>
                </a:solidFill>
              </a:rPr>
              <a:t>relevancia</a:t>
            </a:r>
            <a:r>
              <a:rPr lang="es-CL" sz="2000" dirty="0">
                <a:solidFill>
                  <a:srgbClr val="1F2937"/>
                </a:solidFill>
              </a:rPr>
              <a:t> con pauta humana.</a:t>
            </a:r>
          </a:p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000" dirty="0">
                <a:solidFill>
                  <a:srgbClr val="1F2937"/>
                </a:solidFill>
              </a:rPr>
              <a:t>En español, usar un tokenizador que respete las tildes.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PF1822 · Módulo 2 · Cápsula 4 · Aprendizaje esperado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CONTENIDO DEL PLAN (TEXTUAL)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REGISTRO DE RESULTADOS DE EVALUACIÓN.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IDENTIFICACIÓN DE AJUSTES INICIALES A PARTIR DE MÉTRICAS OBTENIDAS.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Registrar y ajustar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Una fila por prueba en un CSV; identificar ajustes a partir de los números.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PF1822 · Módulo 2 · Cápsula 4 · Aprendizaje esperado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PRÁCTICA DEL APRENDIZAJE ESPERADO 4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Tu tarea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Actividad 2, pasos 1, 4 y 5.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PF1822 · Módulo 2 · Cápsula 4 · Aprendizaje esperado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ulo 2">
  <a:themeElements>
    <a:clrScheme name="Modulo 2">
      <a:dk1>
        <a:srgbClr val="1F2937"/>
      </a:dk1>
      <a:lt1>
        <a:srgbClr val="FFFFFF"/>
      </a:lt1>
      <a:dk2>
        <a:srgbClr val="0F3D5E"/>
      </a:dk2>
      <a:lt2>
        <a:srgbClr val="F3F4F6"/>
      </a:lt2>
      <a:accent1>
        <a:srgbClr val="0E7490"/>
      </a:accent1>
      <a:accent2>
        <a:srgbClr val="F59E0B"/>
      </a:accent2>
      <a:accent3>
        <a:srgbClr val="10B981"/>
      </a:accent3>
      <a:accent4>
        <a:srgbClr val="6366F1"/>
      </a:accent4>
      <a:accent5>
        <a:srgbClr val="EF4444"/>
      </a:accent5>
      <a:accent6>
        <a:srgbClr val="64748B"/>
      </a:accent6>
      <a:hlink>
        <a:srgbClr val="0563C1"/>
      </a:hlink>
      <a:folHlink>
        <a:srgbClr val="954F72"/>
      </a:folHlink>
    </a:clrScheme>
    <a:fontScheme name="Modulo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odulo 2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ulo 2">
  <a:themeElements>
    <a:clrScheme name="Modulo 2">
      <a:dk1>
        <a:srgbClr val="1F2937"/>
      </a:dk1>
      <a:lt1>
        <a:srgbClr val="FFFFFF"/>
      </a:lt1>
      <a:dk2>
        <a:srgbClr val="0F3D5E"/>
      </a:dk2>
      <a:lt2>
        <a:srgbClr val="F3F4F6"/>
      </a:lt2>
      <a:accent1>
        <a:srgbClr val="0E7490"/>
      </a:accent1>
      <a:accent2>
        <a:srgbClr val="F59E0B"/>
      </a:accent2>
      <a:accent3>
        <a:srgbClr val="10B981"/>
      </a:accent3>
      <a:accent4>
        <a:srgbClr val="6366F1"/>
      </a:accent4>
      <a:accent5>
        <a:srgbClr val="EF4444"/>
      </a:accent5>
      <a:accent6>
        <a:srgbClr val="64748B"/>
      </a:accent6>
      <a:hlink>
        <a:srgbClr val="0563C1"/>
      </a:hlink>
      <a:folHlink>
        <a:srgbClr val="954F72"/>
      </a:folHlink>
    </a:clrScheme>
    <a:fontScheme name="Modulo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odulo 2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licitacion-td-2026</Application>
  <Slides>11</Slides>
  <Notes>11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PF1822 · Cápsula 4 · Preparar y medir texto</dc:title>
  <dc:creator>licitacion-td-2026</dc:creator>
  <dcterms:created xsi:type="dcterms:W3CDTF">2026-10-02T04:01:28Z</dcterms:created>
</cp:coreProperties>
</file>
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
    <p:sldId id="257" r:id="rId11"/>
    <p:sldId id="258" r:id="rId12"/>
    <p:sldId id="259" r:id="rId13"/>
    <p:sldId id="260" r:id="rId14"/>
    <p:sldId id="261" r:id="rId15"/>
    <p:sldId id="262" r:id="rId16"/>
    <p:sldId id="263" r:id="rId17"/>
    <p:sldId id="264" r:id="rId18"/>
    <p:sldId id="265" r:id="rId19"/>
    <p:sldId id="266"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3" name="Notas"/>
          <p:cNvSpPr>
            <a:spLocks noGrp="1"/>
          </p:cNvSpPr>
          <p:nvPr>
            <p:ph type="body" sz="quarter" idx="3"/>
          </p:nvPr>
        </p:nvSpPr>
        <p:spPr>
          <a:xfrm>
            <a:off x="685800" y="4343400"/>
            <a:ext cx="5486400" cy="4114800"/>
          </a:xfrm>
          <a:prstGeom prst="rect">
            <a:avLst/>
          </a:prstGeom>
        </p:spPr>
        <p:txBody>
          <a:bodyPr/>
          <a:lstStyle/>
          <a:p>
            <a:endParaRPr lang="es-CL"/>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Te doy la bienvenida a la cápsula 1 del módulo 2, Introducción a modelos generativos y consumo por API: Modelos generativos y su ecosistema. "Qué hace un modelo generativo y dónde encaja en una aplicación". El caso: el resumidor de tickets de Nube Sur.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Esta cápsula corresponde al aprendizaje esperado 1 del plan formativo: Analizar el rol de los modelos generativos en el desarrollo de aplicaciones, describiendo sus tipos, casos de uso, tecnologías asociadas y representando arquitecturas funcionales que integren estos modelos mediante APIs. Sus criterios de evaluación son: Clasifica los tipos de modelos generativos identificando sus características y aplicaciones más frecuentes en la organización. Representa un diagrama funcional de una aplicación con IA generativa, explicando la función de cada componente dentro de la arquitectura. Analiza la elección de la arquitectura en función de criterios como escalabilidad, seguridad o mantenimiento.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IA generativa frente a IA tradicional. La IA tradicional basada en reglas decide con condiciones escritas por personas; la generativa produce contenido nuevo (texto, código, imágenes) aprendido de datos.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Tipos por lo que generan. Texto, imagen, audio y video.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Familias técnicas. Autorregresivos: generan token a token (texto y código). De difusión: parten de ruido y lo refinan (imágenes, audio). Transformers: la arquitectura detrás de la mayoría de los modelos de lenguaje actuales. Ver el cuadro.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Casos de uso. Generación de texto y de código, síntesis de imágenes, preguntas y respuestas, resúmenes, generación de pruebas.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Arquitecturas. Solicitud–respuesta (una llamada, una respuesta) y pipelines (varias etapas encadenadas: limpiar, luego generar, luego evaluar, luego guardar).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Componentes. Cliente, servidor API, módulo de preprocesamiento, modelo de IA, base de datos o vector store. Flujo de datos de extremo a extremo con el ticket de ejemplo.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Tecnologías y bibliotecas. API de OpenAI, Hugging Face Transformers, TensorFlow, PyTorch, LangChain, Diffusers: qué resuelve cada una y en qué módulo del plan se vuelve a ver.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Elegir una arquitectura. Criterios: escalabilidad (¿aguanta 10 veces más tickets?), seguridad (¿dónde están la clave y los datos personales?), costo (tokens por ticket) y mantenimiento (¿se puede cambiar de modelo sin reescribir todo?).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Tu tarea. Diagrama del resumidor y su justificación: actividad 1, parte 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24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6858000"/>
          </a:xfrm>
          <a:prstGeom prst="rect">
            <a:avLst/>
          </a:prstGeom>
          <a:solidFill>
            <a:srgbClr val="0F3D5E"/>
          </a:solidFill>
          <a:ln>
            <a:noFill/>
          </a:ln>
        </p:spPr>
      </p:sp>
      <p:sp>
        <p:nvSpPr>
          <p:cNvPr id="3" name="Franja 3"/>
          <p:cNvSpPr/>
          <p:nvPr/>
        </p:nvSpPr>
        <p:spPr>
          <a:xfrm>
            <a:off x="609600" y="3276600"/>
            <a:ext cx="1524000" cy="76200"/>
          </a:xfrm>
          <a:prstGeom prst="rect">
            <a:avLst/>
          </a:prstGeom>
          <a:solidFill>
            <a:srgbClr val="F59E0B"/>
          </a:solidFill>
          <a:ln>
            <a:noFill/>
          </a:ln>
        </p:spPr>
      </p:sp>
      <p:sp>
        <p:nvSpPr>
          <p:cNvPr id="7" name="Etiqueta"/>
          <p:cNvSpPr txBox="1"/>
          <p:nvPr/>
        </p:nvSpPr>
        <p:spPr>
          <a:xfrm>
            <a:off x="609600" y="609600"/>
            <a:ext cx="7315200" cy="533400"/>
          </a:xfrm>
          <a:prstGeom prst="rect">
            <a:avLst/>
          </a:prstGeom>
          <a:noFill/>
        </p:spPr>
        <p:txBody>
          <a:bodyPr wrap="square" lIns="0" rIns="0" anchor="b">
            <a:normAutofit/>
          </a:bodyPr>
          <a:lstStyle/>
          <a:p>
            <a:r>
              <a:rPr lang="es-CL" sz="1200" b="1" dirty="0">
                <a:solidFill>
                  <a:srgbClr val="9FC3E6"/>
                </a:solidFill>
              </a:rPr>
              <a:t>MÓDULO 2 · INTRODUCCIÓN A MODELOS GENERATIVOS Y CONSUMO POR API</a:t>
            </a:r>
          </a:p>
        </p:txBody>
      </p:sp>
      <p:sp>
        <p:nvSpPr>
          <p:cNvPr id="4" name="Título"/>
          <p:cNvSpPr txBox="1"/>
          <p:nvPr/>
        </p:nvSpPr>
        <p:spPr>
          <a:xfrm>
            <a:off x="609600" y="1219200"/>
            <a:ext cx="7315200" cy="1981200"/>
          </a:xfrm>
          <a:prstGeom prst="rect">
            <a:avLst/>
          </a:prstGeom>
          <a:noFill/>
        </p:spPr>
        <p:txBody>
          <a:bodyPr wrap="square" lIns="0" rIns="0" anchor="b">
            <a:normAutofit/>
          </a:bodyPr>
          <a:lstStyle/>
          <a:p>
            <a:r>
              <a:rPr lang="es-CL" sz="4000" b="1" dirty="0">
                <a:solidFill>
                  <a:srgbClr val="FFFFFF"/>
                </a:solidFill>
              </a:rPr>
              <a:t>Cápsula 1: Modelos generativos y su ecosistema</a:t>
            </a:r>
          </a:p>
        </p:txBody>
      </p:sp>
      <p:sp>
        <p:nvSpPr>
          <p:cNvPr id="5" name="Subtítulo"/>
          <p:cNvSpPr txBox="1"/>
          <p:nvPr/>
        </p:nvSpPr>
        <p:spPr>
          <a:xfrm>
            <a:off x="609600" y="3505200"/>
            <a:ext cx="7315200" cy="1828800"/>
          </a:xfrm>
          <a:prstGeom prst="rect">
            <a:avLst/>
          </a:prstGeom>
          <a:noFill/>
        </p:spPr>
        <p:txBody>
          <a:bodyPr wrap="square" lIns="0" rIns="0" anchor="t">
            <a:normAutofit/>
          </a:bodyPr>
          <a:lstStyle/>
          <a:p>
            <a:r>
              <a:rPr lang="es-CL" sz="2200" dirty="0">
                <a:solidFill>
                  <a:srgbClr val="E5E7EB"/>
                </a:solidFill>
              </a:rPr>
              <a:t>"Qué hace un modelo generativo y dónde encaja en una aplicación". El caso: el resumidor de tickets de Nube Sur.</a:t>
            </a:r>
          </a:p>
          <a:p>
            <a:r>
              <a:rPr lang="es-CL" sz="2200" dirty="0">
                <a:solidFill>
                  <a:srgbClr val="E5E7EB"/>
                </a:solidFill>
              </a:rPr>
              <a:t>Contenido del plan: 1. MODELOS GENERATIVOS Y ECOSISTEMA TECNOLÓGICO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CBD5E1"/>
                </a:solidFill>
              </a:rPr>
              <a:t>PF1822 · Módulo 2 · Cápsula 1 · Aprendizaje esperado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APRENDIZAJE Y CRITERIOS TEXTUALES DEL PLAN FORMATIVO</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Aprendizaje esperado 1</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1400" b="1" dirty="0">
                <a:solidFill>
                  <a:srgbClr val="1F2937"/>
                </a:solidFill>
              </a:rPr>
              <a:t>ANALIZAR EL ROL DE LOS MODELOS GENERATIVOS EN EL DESARROLLO DE APLICACIONES, DESCRIBIENDO SUS TIPOS, CASOS DE USO, TECNOLOGÍAS ASOCIADAS Y REPRESENTANDO ARQUITECTURAS FUNCIONALES QUE INTEGREN ESTOS MODELOS MEDIANTE APIS.</a:t>
            </a:r>
          </a:p>
          <a:p>
            <a:pPr marL="0" indent="0">
              <a:spcBef>
                <a:spcPts val="1400"/>
              </a:spcBef>
              <a:buNone/>
            </a:pPr>
            <a:r>
              <a:rPr lang="es-CL" sz="1200" b="1" dirty="0">
                <a:solidFill>
                  <a:srgbClr val="0E7490"/>
                </a:solidFill>
              </a:rPr>
              <a:t>CRITERIOS DE EVALUACIÓN</a:t>
            </a:r>
          </a:p>
          <a:p>
            <a:pPr marL="342900" indent="-342900">
              <a:spcBef>
                <a:spcPts val="900"/>
              </a:spcBef>
              <a:buClr>
                <a:srgbClr val="0E7490"/>
              </a:buClr>
              <a:buFont typeface="Arial"/>
              <a:buChar char="•"/>
            </a:pPr>
            <a:r>
              <a:rPr lang="es-CL" sz="1400" dirty="0">
                <a:solidFill>
                  <a:srgbClr val="1F2937"/>
                </a:solidFill>
              </a:rPr>
              <a:t>1.1 CLASIFICA LOS TIPOS DE MODELOS GENERATIVOS IDENTIFICANDO SUS CARACTERÍSTICAS Y APLICACIONES MÁS FRECUENTES EN LA ORGANIZACIÓN.</a:t>
            </a:r>
          </a:p>
          <a:p>
            <a:pPr marL="342900" indent="-342900">
              <a:spcBef>
                <a:spcPts val="900"/>
              </a:spcBef>
              <a:buClr>
                <a:srgbClr val="0E7490"/>
              </a:buClr>
              <a:buFont typeface="Arial"/>
              <a:buChar char="•"/>
            </a:pPr>
            <a:r>
              <a:rPr lang="es-CL" sz="1400" dirty="0">
                <a:solidFill>
                  <a:srgbClr val="1F2937"/>
                </a:solidFill>
              </a:rPr>
              <a:t>1.2 REPRESENTA UN DIAGRAMA FUNCIONAL DE UNA APLICACIÓN CON IA GENERATIVA, EXPLICANDO LA FUNCIÓN DE CADA COMPONENTE DENTRO DE LA ARQUITECTURA.</a:t>
            </a:r>
          </a:p>
          <a:p>
            <a:pPr marL="342900" indent="-342900">
              <a:spcBef>
                <a:spcPts val="900"/>
              </a:spcBef>
              <a:buClr>
                <a:srgbClr val="0E7490"/>
              </a:buClr>
              <a:buFont typeface="Arial"/>
              <a:buChar char="•"/>
            </a:pPr>
            <a:r>
              <a:rPr lang="es-CL" sz="1400" dirty="0">
                <a:solidFill>
                  <a:srgbClr val="1F2937"/>
                </a:solidFill>
              </a:rPr>
              <a:t>1.3 ANALIZA LA ELECCIÓN DE LA ARQUITECTURA EN FUNCIÓN DE CRITERIOS COMO ESCALABILIDAD, SEGURIDAD O MANTENIMIENTO.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CONCEPTOS GENERALES DE IA GENERATIVA: QUÉ ES LA IA GENERATIVA Y PARA QUÉ SIRVE.</a:t>
            </a:r>
          </a:p>
          <a:p>
            <a:r>
              <a:rPr lang="es-CL" sz="1200" b="1" dirty="0">
                <a:solidFill>
                  <a:srgbClr val="0F3D5E"/>
                </a:solidFill>
              </a:rPr>
              <a:t>DIFERENCIAS ENTRE IA GENERATIVA Y IA TRADICIONAL BASADA EN REGLAS.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IA generativa frente a IA tradicional</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La IA tradicional basada en reglas decide con condiciones escritas por personas; la generativa </a:t>
            </a:r>
            <a:r>
              <a:rPr lang="es-CL" sz="2400" b="1" dirty="0">
                <a:solidFill>
                  <a:srgbClr val="1F2937"/>
                </a:solidFill>
              </a:rPr>
              <a:t>produce contenido nuevo</a:t>
            </a:r>
            <a:r>
              <a:rPr lang="es-CL" sz="2400" dirty="0">
                <a:solidFill>
                  <a:srgbClr val="1F2937"/>
                </a:solidFill>
              </a:rPr>
              <a:t> (texto, código, imágenes) aprendido de datos.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TIPOS DE IA GENERATIVA: TEXTO, IMAGEN, AUDIO Y VIDEO.</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Tipos por lo que generan</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Texto, imagen, audio y video.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TIPOS DE MODELOS: AUTORREGRESIVOS, DE DIFUSIÓN Y BASADOS EN TRANSFORMERS.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Familias técnicas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b="1" dirty="0">
                <a:solidFill>
                  <a:srgbClr val="1F2937"/>
                </a:solidFill>
              </a:rPr>
              <a:t>Autorregresivos</a:t>
            </a:r>
            <a:r>
              <a:rPr lang="es-CL" sz="2000" dirty="0">
                <a:solidFill>
                  <a:srgbClr val="1F2937"/>
                </a:solidFill>
              </a:rPr>
              <a:t>: generan token a token (texto y código).</a:t>
            </a:r>
          </a:p>
          <a:p>
            <a:pPr marL="342900" indent="-342900">
              <a:spcBef>
                <a:spcPts val="900"/>
              </a:spcBef>
              <a:buClr>
                <a:srgbClr val="0E7490"/>
              </a:buClr>
              <a:buFont typeface="Arial"/>
              <a:buChar char="•"/>
            </a:pPr>
            <a:r>
              <a:rPr lang="es-CL" sz="2000" b="1" dirty="0">
                <a:solidFill>
                  <a:srgbClr val="1F2937"/>
                </a:solidFill>
              </a:rPr>
              <a:t>De difusión</a:t>
            </a:r>
            <a:r>
              <a:rPr lang="es-CL" sz="2000" dirty="0">
                <a:solidFill>
                  <a:srgbClr val="1F2937"/>
                </a:solidFill>
              </a:rPr>
              <a:t>: parten de ruido y lo refinan (imágenes, audio).</a:t>
            </a:r>
          </a:p>
          <a:p>
            <a:pPr marL="342900" indent="-342900">
              <a:spcBef>
                <a:spcPts val="900"/>
              </a:spcBef>
              <a:buClr>
                <a:srgbClr val="0E7490"/>
              </a:buClr>
              <a:buFont typeface="Arial"/>
              <a:buChar char="•"/>
            </a:pPr>
            <a:r>
              <a:rPr lang="es-CL" sz="2000" b="1" dirty="0">
                <a:solidFill>
                  <a:srgbClr val="1F2937"/>
                </a:solidFill>
              </a:rPr>
              <a:t>Transformers</a:t>
            </a:r>
            <a:r>
              <a:rPr lang="es-CL" sz="2000" dirty="0">
                <a:solidFill>
                  <a:srgbClr val="1F2937"/>
                </a:solidFill>
              </a:rPr>
              <a:t>: la arquitectura detrás de la mayoría de los modelos de lenguaje actuales.</a:t>
            </a:r>
          </a:p>
          <a:p>
            <a:pPr marL="342900" indent="-342900">
              <a:spcBef>
                <a:spcPts val="900"/>
              </a:spcBef>
              <a:buClr>
                <a:srgbClr val="0E7490"/>
              </a:buClr>
              <a:buFont typeface="Arial"/>
              <a:buChar char="•"/>
            </a:pPr>
            <a:r>
              <a:rPr lang="es-CL" sz="2000" dirty="0">
                <a:solidFill>
                  <a:srgbClr val="1F2937"/>
                </a:solidFill>
              </a:rPr>
              <a:t>Ver el cuadro R04.</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CASOS DE USO: GENERACIÓN DE TEXTO, GENERACIÓN DE CÓDIGO, SÍNTESIS DE IMÁGENES, QA, SUMMARIZATION Y GENERACIÓN DE TESTS.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Casos de uso</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Generación de texto y de código, síntesis de imágenes, preguntas y respuestas, resúmenes, generación de pruebas.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ARQUITECTURAS: REQUEST–RESPONSE Y PIPELINES.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Arquitecturas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b="1" dirty="0">
                <a:solidFill>
                  <a:srgbClr val="1F2937"/>
                </a:solidFill>
              </a:rPr>
              <a:t>Solicitud–respuesta</a:t>
            </a:r>
            <a:r>
              <a:rPr lang="es-CL" sz="2400" dirty="0">
                <a:solidFill>
                  <a:srgbClr val="1F2937"/>
                </a:solidFill>
              </a:rPr>
              <a:t> (una llamada, una respuesta) y </a:t>
            </a:r>
            <a:r>
              <a:rPr lang="es-CL" sz="2400" b="1" dirty="0">
                <a:solidFill>
                  <a:srgbClr val="1F2937"/>
                </a:solidFill>
              </a:rPr>
              <a:t>pipelines</a:t>
            </a:r>
            <a:r>
              <a:rPr lang="es-CL" sz="2400" dirty="0">
                <a:solidFill>
                  <a:srgbClr val="1F2937"/>
                </a:solidFill>
              </a:rPr>
              <a:t> (varias etapas encadenadas: limpiar → generar → evaluar → guardar).</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COMPONENTES: CLIENTE, SERVIDOR API, MODELO DE IA, MÓDULO DE PREPROCESAMIENTO Y BASE DE DATOS/VECTOR STORE.</a:t>
            </a:r>
          </a:p>
          <a:p>
            <a:r>
              <a:rPr lang="es-CL" sz="1200" b="1" dirty="0">
                <a:solidFill>
                  <a:srgbClr val="0F3D5E"/>
                </a:solidFill>
              </a:rPr>
              <a:t>FLUJO DE DATOS END-TO-END: TECNOLOGÍAS Y LIBRERÍAS: OPENAI API, HUGGING FACE TRANSFORMERS, TENSORFLOW, PYTORCH, LANGCHAIN Y DIFFUSERS.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Componentes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Cliente · servidor API · módulo de preprocesamiento · modelo de IA · base de datos o vector store.</a:t>
            </a:r>
          </a:p>
          <a:p>
            <a:pPr marL="342900" indent="-342900">
              <a:spcBef>
                <a:spcPts val="900"/>
              </a:spcBef>
              <a:buClr>
                <a:srgbClr val="0E7490"/>
              </a:buClr>
              <a:buFont typeface="Arial"/>
              <a:buChar char="•"/>
            </a:pPr>
            <a:r>
              <a:rPr lang="es-CL" sz="2400" dirty="0">
                <a:solidFill>
                  <a:srgbClr val="1F2937"/>
                </a:solidFill>
              </a:rPr>
              <a:t>Flujo de datos de extremo a extremo con el ticket de ejemplo.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ECOSISTEMA TECNOLÓGICO DE LA IA.</a:t>
            </a:r>
          </a:p>
          <a:p>
            <a:r>
              <a:rPr lang="es-CL" sz="1200" b="1" dirty="0">
                <a:solidFill>
                  <a:srgbClr val="0F3D5E"/>
                </a:solidFill>
              </a:rPr>
              <a:t>FLUJO DE DATOS END-TO-END: TECNOLOGÍAS Y LIBRERÍAS: OPENAI API, HUGGING FACE TRANSFORMERS, TENSORFLOW, PYTORCH, LANGCHAIN Y DIFFUSERS.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Tecnologías y bibliotecas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API de OpenAI · Hugging Face Transformers · TensorFlow · PyTorch · LangChain · Diffusers: qué resuelve cada una y en qué módulo del plan se vuelve a ver.</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ARQUITECTURAS: REQUEST–RESPONSE Y PIPELINES.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Elegir una arquitectura</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dirty="0">
                <a:solidFill>
                  <a:srgbClr val="1F2937"/>
                </a:solidFill>
              </a:rPr>
              <a:t>Criterios: </a:t>
            </a:r>
            <a:r>
              <a:rPr lang="es-CL" sz="2000" b="1" dirty="0">
                <a:solidFill>
                  <a:srgbClr val="1F2937"/>
                </a:solidFill>
              </a:rPr>
              <a:t>escalabilidad</a:t>
            </a:r>
            <a:r>
              <a:rPr lang="es-CL" sz="2000" dirty="0">
                <a:solidFill>
                  <a:srgbClr val="1F2937"/>
                </a:solidFill>
              </a:rPr>
              <a:t> (¿aguanta 10 veces más tickets?), </a:t>
            </a:r>
            <a:r>
              <a:rPr lang="es-CL" sz="2000" b="1" dirty="0">
                <a:solidFill>
                  <a:srgbClr val="1F2937"/>
                </a:solidFill>
              </a:rPr>
              <a:t>seguridad</a:t>
            </a:r>
            <a:r>
              <a:rPr lang="es-CL" sz="2000" dirty="0">
                <a:solidFill>
                  <a:srgbClr val="1F2937"/>
                </a:solidFill>
              </a:rPr>
              <a:t> (¿dónde están la clave y los datos personales?), </a:t>
            </a:r>
            <a:r>
              <a:rPr lang="es-CL" sz="2000" b="1" dirty="0">
                <a:solidFill>
                  <a:srgbClr val="1F2937"/>
                </a:solidFill>
              </a:rPr>
              <a:t>costo</a:t>
            </a:r>
            <a:r>
              <a:rPr lang="es-CL" sz="2000" dirty="0">
                <a:solidFill>
                  <a:srgbClr val="1F2937"/>
                </a:solidFill>
              </a:rPr>
              <a:t> (tokens por ticket) y </a:t>
            </a:r>
            <a:r>
              <a:rPr lang="es-CL" sz="2000" b="1" dirty="0">
                <a:solidFill>
                  <a:srgbClr val="1F2937"/>
                </a:solidFill>
              </a:rPr>
              <a:t>mantenimiento</a:t>
            </a:r>
            <a:r>
              <a:rPr lang="es-CL" sz="2000" dirty="0">
                <a:solidFill>
                  <a:srgbClr val="1F2937"/>
                </a:solidFill>
              </a:rPr>
              <a:t> (¿se puede cambiar de modelo sin reescribir todo?).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PRÁCTICA DEL APRENDIZAJE ESPERADO 1</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Tu tarea</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Diagrama del resumidor y su justificación: actividad 1, parte 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1 · Aprendizaje esperado 1</a:t>
            </a:r>
          </a:p>
        </p:txBody>
      </p:sp>
    </p:spTree>
  </p:cSld>
  <p:clrMapOvr>
    <a:masterClrMapping/>
  </p:clrMapOvr>
</p:sld>
</file>

<file path=ppt/theme/theme1.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licitacion-td-2026</Application>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PF1822 · Cápsula 1 · Modelos generativos y su ecosistema</dc:title>
  <dc:creator>licitacion-td-2026</dc:creator>
  <dcterms:created xsi:type="dcterms:W3CDTF">2026-10-02T04:01:28Z</dcterms:created>
</cp:coreProperties>
</file>